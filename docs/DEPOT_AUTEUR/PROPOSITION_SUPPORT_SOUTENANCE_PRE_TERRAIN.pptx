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/>
    <a:lvl1pPr marL="0" algn="l">
      <a:defRPr lang="fr-FR" sz="1800"/>
    </a:lvl1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1" r:id="rId1"/>
  </p:sldLayoutIdLst>
  <p:txStyles>
    <p:titleStyle/>
    <p:bodyStyle/>
    <p:otherStyle/>
  </p:txStyles>
  <p:clrMap accent1="159A9C" accent2="C08B2C" bg1="FFFFFF" bg2="F4F7F8" folHlink="800080" hlink="0000FF" tx1="233746" tx2="60717D"/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3A52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DDF2F1"/>
                </a:solidFill>
                <a:latin typeface="Aptos"/>
              </a:rPr>
              <a:t>SOUTENANCE DBA · SUPPORT PRÉ-TERRAIN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FFFFFF"/>
                </a:solidFill>
                <a:latin typeface="Aptos"/>
              </a:rPr>
              <a:t>La gouvernance augmentée des EPES gabonais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D7E6EA"/>
                </a:solidFill>
                <a:latin typeface="Aptos"/>
              </a:rPr>
              <a:t>Proposition IA — à valider par l’auteur · terrain non réalisé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520000" y="1150000"/>
            <a:ext cx="6800000" cy="19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3400" b="1">
                <a:solidFill>
                  <a:srgbClr val="FFFFFF"/>
                </a:solidFill>
                <a:latin typeface="Aptos"/>
              </a:rPr>
              <a:t>La gouvernance augmentée</a:t>
            </a:r>
            <a:endParaRPr lang="fr-FR" sz="3400"/>
          </a:p>
          <a:p>
            <a:r>
              <a:rPr lang="fr-FR" sz="3400" b="1">
                <a:solidFill>
                  <a:srgbClr val="FFFFFF"/>
                </a:solidFill>
                <a:latin typeface="Aptos"/>
              </a:rPr>
              <a:t>des EPES gabonais</a:t>
            </a:r>
            <a:endParaRPr lang="fr-FR" sz="3400"/>
          </a:p>
          <a:p>
            <a:r>
              <a:rPr lang="fr-FR" sz="3400" b="1">
                <a:solidFill>
                  <a:srgbClr val="FFFFFF"/>
                </a:solidFill>
                <a:latin typeface="Aptos"/>
              </a:rPr>
              <a:t>en contexte de polycrise</a:t>
            </a:r>
            <a:endParaRPr lang="fr-FR" sz="3400"/>
          </a:p>
        </p:txBody>
      </p:sp>
      <p:sp>
        <p:nvSpPr>
          <p:cNvPr id="4" name="Text 4"/>
          <p:cNvSpPr txBox="1"/>
          <p:nvPr/>
        </p:nvSpPr>
        <p:spPr>
          <a:xfrm>
            <a:off x="560000" y="3400000"/>
            <a:ext cx="6300000" cy="8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000" b="0">
                <a:solidFill>
                  <a:srgbClr val="D7E6EA"/>
                </a:solidFill>
                <a:latin typeface="Aptos"/>
              </a:rPr>
              <a:t>Articulation IA × IE dans les processus de gouvernance</a:t>
            </a:r>
            <a:endParaRPr lang="fr-FR" sz="2000"/>
          </a:p>
          <a:p>
            <a:r>
              <a:rPr lang="fr-FR" sz="2000" b="0">
                <a:solidFill>
                  <a:srgbClr val="D7E6EA"/>
                </a:solidFill>
                <a:latin typeface="Aptos"/>
              </a:rPr>
              <a:t>— résultats à établir après le terrain —</a:t>
            </a:r>
            <a:endParaRPr lang="fr-FR" sz="2000"/>
          </a:p>
        </p:txBody>
      </p:sp>
      <p:sp>
        <p:nvSpPr>
          <p:cNvPr id="5" name="Text 5"/>
          <p:cNvSpPr txBox="1"/>
          <p:nvPr/>
        </p:nvSpPr>
        <p:spPr>
          <a:xfrm>
            <a:off x="560000" y="4850000"/>
            <a:ext cx="3800000" cy="35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100" b="1">
                <a:solidFill>
                  <a:srgbClr val="FFFFFF"/>
                </a:solidFill>
                <a:latin typeface="Aptos"/>
              </a:rPr>
              <a:t>Serge Patrick MINANG</a:t>
            </a:r>
            <a:endParaRPr lang="fr-FR" sz="2100"/>
          </a:p>
        </p:txBody>
      </p:sp>
      <p:sp>
        <p:nvSpPr>
          <p:cNvPr id="6" name="Text 6"/>
          <p:cNvSpPr txBox="1"/>
          <p:nvPr/>
        </p:nvSpPr>
        <p:spPr>
          <a:xfrm>
            <a:off x="8200000" y="1800000"/>
            <a:ext cx="1100000" cy="1100000"/>
          </a:xfrm>
          <a:prstGeom prst="roundRect">
            <a:avLst/>
          </a:prstGeom>
          <a:solidFill>
            <a:srgbClr val="159A9C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2600" b="1">
                <a:solidFill>
                  <a:srgbClr val="FFFFFF"/>
                </a:solidFill>
                <a:latin typeface="Aptos"/>
              </a:rPr>
              <a:t>IA</a:t>
            </a:r>
            <a:endParaRPr lang="fr-FR" sz="2600"/>
          </a:p>
        </p:txBody>
      </p:sp>
      <p:sp>
        <p:nvSpPr>
          <p:cNvPr id="7" name="Text 7"/>
          <p:cNvSpPr txBox="1"/>
          <p:nvPr/>
        </p:nvSpPr>
        <p:spPr>
          <a:xfrm>
            <a:off x="10000000" y="1800000"/>
            <a:ext cx="1100000" cy="1100000"/>
          </a:xfrm>
          <a:prstGeom prst="roundRect">
            <a:avLst/>
          </a:prstGeom>
          <a:solidFill>
            <a:srgbClr val="C08B2C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2600" b="1">
                <a:solidFill>
                  <a:srgbClr val="FFFFFF"/>
                </a:solidFill>
                <a:latin typeface="Aptos"/>
              </a:rPr>
              <a:t>IE</a:t>
            </a:r>
            <a:endParaRPr lang="fr-FR" sz="2600"/>
          </a:p>
        </p:txBody>
      </p:sp>
      <p:sp>
        <p:nvSpPr>
          <p:cNvPr id="8" name="Text 8"/>
          <p:cNvSpPr txBox="1"/>
          <p:nvPr/>
        </p:nvSpPr>
        <p:spPr>
          <a:xfrm>
            <a:off x="8720000" y="2930000"/>
            <a:ext cx="500000" cy="5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3000" b="1">
                <a:solidFill>
                  <a:srgbClr val="DDF2F1"/>
                </a:solidFill>
                <a:latin typeface="Aptos"/>
              </a:rPr>
              <a:t>↓</a:t>
            </a:r>
            <a:endParaRPr lang="fr-FR" sz="3000"/>
          </a:p>
        </p:txBody>
      </p:sp>
      <p:sp>
        <p:nvSpPr>
          <p:cNvPr id="9" name="Text 9"/>
          <p:cNvSpPr txBox="1"/>
          <p:nvPr/>
        </p:nvSpPr>
        <p:spPr>
          <a:xfrm>
            <a:off x="10480000" y="2930000"/>
            <a:ext cx="500000" cy="5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3000" b="1">
                <a:solidFill>
                  <a:srgbClr val="F7EEDB"/>
                </a:solidFill>
                <a:latin typeface="Aptos"/>
              </a:rPr>
              <a:t>↓</a:t>
            </a:r>
            <a:endParaRPr lang="fr-FR" sz="3000"/>
          </a:p>
        </p:txBody>
      </p:sp>
      <p:sp>
        <p:nvSpPr>
          <p:cNvPr id="10" name="Text 10"/>
          <p:cNvSpPr txBox="1"/>
          <p:nvPr/>
        </p:nvSpPr>
        <p:spPr>
          <a:xfrm>
            <a:off x="8100000" y="3500000"/>
            <a:ext cx="3200000" cy="115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900" b="1">
                <a:solidFill>
                  <a:srgbClr val="173A52"/>
                </a:solidFill>
                <a:latin typeface="Aptos"/>
              </a:rPr>
              <a:t>GOUVERNANCE</a:t>
            </a:r>
            <a:endParaRPr lang="fr-FR" sz="1900"/>
          </a:p>
          <a:p>
            <a:r>
              <a:rPr lang="fr-FR" sz="1900" b="1">
                <a:solidFill>
                  <a:srgbClr val="173A52"/>
                </a:solidFill>
                <a:latin typeface="Aptos"/>
              </a:rPr>
              <a:t>RESPONSABILITÉ HUMAINE</a:t>
            </a:r>
            <a:endParaRPr lang="fr-FR" sz="1900"/>
          </a:p>
        </p:txBody>
      </p:sp>
      <p:sp>
        <p:nvSpPr>
          <p:cNvPr id="11" name="Text 11"/>
          <p:cNvSpPr txBox="1"/>
          <p:nvPr/>
        </p:nvSpPr>
        <p:spPr>
          <a:xfrm>
            <a:off x="8200000" y="5100000"/>
            <a:ext cx="3000000" cy="5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600" b="0">
                <a:solidFill>
                  <a:srgbClr val="D7E6EA"/>
                </a:solidFill>
                <a:latin typeface="Aptos"/>
              </a:rPr>
              <a:t>Aucun résultat empirique · aucun effet présupposé</a:t>
            </a:r>
            <a:endParaRPr lang="fr-FR" sz="16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B8C7CE"/>
                </a:solidFill>
                <a:latin typeface="Aptos"/>
              </a:rPr>
              <a:t>01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159A9C"/>
                </a:solidFill>
                <a:latin typeface="Aptos"/>
              </a:rPr>
              <a:t>0 · RÈGLE DE LECTURE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173A52"/>
                </a:solidFill>
                <a:latin typeface="Aptos"/>
              </a:rPr>
              <a:t>Aujourd’hui : une conception de recherche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60717D"/>
                </a:solidFill>
                <a:latin typeface="Aptos"/>
              </a:rPr>
              <a:t>Un support pré-terrain n’est pas un bilan empirique.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550000" y="1750000"/>
            <a:ext cx="5200000" cy="3100000"/>
          </a:xfrm>
          <a:prstGeom prst="roundRect">
            <a:avLst/>
          </a:prstGeom>
          <a:solidFill>
            <a:srgbClr val="DDF2F1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233746"/>
                </a:solidFill>
                <a:latin typeface="Aptos"/>
              </a:rPr>
              <a:t>CE QUE LE TRAVAIL PRÉPARATOIRE PERMET DE PRÉSENTER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Question · périmètre · concepts proposés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Propositions P1–P7 · modèle exploratoire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Protocole qualitatif prévu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Chaîne de preuves à appliquer après collecte</a:t>
            </a:r>
            <a:endParaRPr lang="fr-FR" sz="1700"/>
          </a:p>
        </p:txBody>
      </p:sp>
      <p:sp>
        <p:nvSpPr>
          <p:cNvPr id="4" name="Text 4"/>
          <p:cNvSpPr txBox="1"/>
          <p:nvPr/>
        </p:nvSpPr>
        <p:spPr>
          <a:xfrm>
            <a:off x="6350000" y="1750000"/>
            <a:ext cx="5200000" cy="3100000"/>
          </a:xfrm>
          <a:prstGeom prst="roundRect">
            <a:avLst/>
          </a:prstGeom>
          <a:solidFill>
            <a:srgbClr val="F7EEDB"/>
          </a:solidFill>
          <a:ln w="10000">
            <a:solidFill>
              <a:srgbClr val="C08B2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233746"/>
                </a:solidFill>
                <a:latin typeface="Aptos"/>
              </a:rPr>
              <a:t>CE QU’IL NE PERMET PAS ENCORE D’AFFIRMER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Articulation IA–IE présente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Effet favorable documenté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Résultat ou recommandation validé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P1–P7 confirmées ou réfutées</a:t>
            </a:r>
            <a:endParaRPr lang="fr-FR" sz="1700"/>
          </a:p>
        </p:txBody>
      </p:sp>
      <p:sp>
        <p:nvSpPr>
          <p:cNvPr id="5" name="Text 5"/>
          <p:cNvSpPr txBox="1"/>
          <p:nvPr/>
        </p:nvSpPr>
        <p:spPr>
          <a:xfrm>
            <a:off x="550000" y="5350000"/>
            <a:ext cx="11100000" cy="62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173A52"/>
                </a:solidFill>
                <a:latin typeface="Aptos"/>
              </a:rPr>
              <a:t>Statut à afficher jusqu’à la conclusion : établi · à éprouver · à recueillir · à établir après le terrain.</a:t>
            </a:r>
            <a:endParaRPr lang="fr-FR" sz="17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7A8B95"/>
                </a:solidFill>
                <a:latin typeface="Aptos"/>
              </a:rPr>
              <a:t>02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159A9C"/>
                </a:solidFill>
                <a:latin typeface="Aptos"/>
              </a:rPr>
              <a:t>01 · PROBLÈME MANAGÉRIAL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173A52"/>
                </a:solidFill>
                <a:latin typeface="Aptos"/>
              </a:rPr>
              <a:t>Décider lorsque les tensions se renforcent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60717D"/>
                </a:solidFill>
                <a:latin typeface="Aptos"/>
              </a:rPr>
              <a:t>Documenter les interactions, pas seulement une liste de difficultés.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550000" y="1900000"/>
            <a:ext cx="3300000" cy="245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233746"/>
                </a:solidFill>
                <a:latin typeface="Aptos"/>
              </a:rPr>
              <a:t>Viabilité économique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/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Financement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Continuité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Allocation des ressources</a:t>
            </a:r>
            <a:endParaRPr lang="fr-FR" sz="1800"/>
          </a:p>
        </p:txBody>
      </p:sp>
      <p:sp>
        <p:nvSpPr>
          <p:cNvPr id="4" name="Text 4"/>
          <p:cNvSpPr txBox="1"/>
          <p:nvPr/>
        </p:nvSpPr>
        <p:spPr>
          <a:xfrm>
            <a:off x="4500000" y="1900000"/>
            <a:ext cx="3300000" cy="245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233746"/>
                </a:solidFill>
                <a:latin typeface="Aptos"/>
              </a:rPr>
              <a:t>Qualité académique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/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Exigence académique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Organisation des cours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Conformité</a:t>
            </a:r>
            <a:endParaRPr lang="fr-FR" sz="1800"/>
          </a:p>
        </p:txBody>
      </p:sp>
      <p:sp>
        <p:nvSpPr>
          <p:cNvPr id="5" name="Text 5"/>
          <p:cNvSpPr txBox="1"/>
          <p:nvPr/>
        </p:nvSpPr>
        <p:spPr>
          <a:xfrm>
            <a:off x="8450000" y="1900000"/>
            <a:ext cx="3300000" cy="245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233746"/>
                </a:solidFill>
                <a:latin typeface="Aptos"/>
              </a:rPr>
              <a:t>Dimensions humaines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/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Tensions et coopération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Équité et participation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Conséquences des choix</a:t>
            </a:r>
            <a:endParaRPr lang="fr-FR" sz="1800"/>
          </a:p>
        </p:txBody>
      </p:sp>
      <p:sp>
        <p:nvSpPr>
          <p:cNvPr id="6" name="Text 6"/>
          <p:cNvSpPr txBox="1"/>
          <p:nvPr/>
        </p:nvSpPr>
        <p:spPr>
          <a:xfrm>
            <a:off x="600000" y="5050000"/>
            <a:ext cx="11100000" cy="650000"/>
          </a:xfrm>
          <a:prstGeom prst="roundRect">
            <a:avLst/>
          </a:prstGeom>
          <a:solidFill>
            <a:srgbClr val="DDF2F1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900" b="1">
                <a:solidFill>
                  <a:srgbClr val="173A52"/>
                </a:solidFill>
                <a:latin typeface="Aptos"/>
              </a:rPr>
              <a:t>La polycrise est un contexte à documenter, non une explication suffisante par elle-même.</a:t>
            </a:r>
            <a:endParaRPr lang="fr-FR" sz="19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7A8B95"/>
                </a:solidFill>
                <a:latin typeface="Aptos"/>
              </a:rPr>
              <a:t>03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159A9C"/>
                </a:solidFill>
                <a:latin typeface="Aptos"/>
              </a:rPr>
              <a:t>01 · QUESTION DE RECHERCHE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173A52"/>
                </a:solidFill>
                <a:latin typeface="Aptos"/>
              </a:rPr>
              <a:t>Une question centrale, un périmètre maîtrisé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60717D"/>
                </a:solidFill>
                <a:latin typeface="Aptos"/>
              </a:rPr>
              <a:t>Aucune articulation effective ni aucun effet favorable ne sont présupposés.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650000" y="1400000"/>
            <a:ext cx="11100000" cy="1300000"/>
          </a:xfrm>
          <a:prstGeom prst="roundRect">
            <a:avLst/>
          </a:prstGeom>
          <a:solidFill>
            <a:srgbClr val="173A52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FFFFFF"/>
                </a:solidFill>
                <a:latin typeface="Aptos"/>
              </a:rPr>
              <a:t>Comment et sous quelles conditions l’IA et l’IE</a:t>
            </a:r>
            <a:endParaRPr lang="fr-FR" sz="2800"/>
          </a:p>
          <a:p>
            <a:r>
              <a:rPr lang="fr-FR" sz="2800" b="1">
                <a:solidFill>
                  <a:srgbClr val="FFFFFF"/>
                </a:solidFill>
                <a:latin typeface="Aptos"/>
              </a:rPr>
              <a:t>s’articulent-elles dans la gouvernance des EPES gabonais ?</a:t>
            </a:r>
            <a:endParaRPr lang="fr-FR" sz="2800"/>
          </a:p>
        </p:txBody>
      </p:sp>
      <p:sp>
        <p:nvSpPr>
          <p:cNvPr id="4" name="Text 4"/>
          <p:cNvSpPr txBox="1"/>
          <p:nvPr/>
        </p:nvSpPr>
        <p:spPr>
          <a:xfrm>
            <a:off x="650000" y="3350000"/>
            <a:ext cx="3200000" cy="145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233746"/>
                </a:solidFill>
                <a:latin typeface="Aptos"/>
              </a:rPr>
              <a:t>Processus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Préparer · délibérer · décider · suivre</a:t>
            </a:r>
            <a:endParaRPr lang="fr-FR" sz="1700"/>
          </a:p>
        </p:txBody>
      </p:sp>
      <p:sp>
        <p:nvSpPr>
          <p:cNvPr id="5" name="Text 5"/>
          <p:cNvSpPr txBox="1"/>
          <p:nvPr/>
        </p:nvSpPr>
        <p:spPr>
          <a:xfrm>
            <a:off x="4500000" y="3350000"/>
            <a:ext cx="3200000" cy="1450000"/>
          </a:xfrm>
          <a:prstGeom prst="roundRect">
            <a:avLst/>
          </a:prstGeom>
          <a:solidFill>
            <a:srgbClr val="DDF2F1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233746"/>
                </a:solidFill>
                <a:latin typeface="Aptos"/>
              </a:rPr>
              <a:t>Scènes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IA et IE effectivement documentables</a:t>
            </a:r>
            <a:endParaRPr lang="fr-FR" sz="1700"/>
          </a:p>
        </p:txBody>
      </p:sp>
      <p:sp>
        <p:nvSpPr>
          <p:cNvPr id="6" name="Text 6"/>
          <p:cNvSpPr txBox="1"/>
          <p:nvPr/>
        </p:nvSpPr>
        <p:spPr>
          <a:xfrm>
            <a:off x="8350000" y="3350000"/>
            <a:ext cx="3200000" cy="145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233746"/>
                </a:solidFill>
                <a:latin typeface="Aptos"/>
              </a:rPr>
              <a:t>Conditions / effets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Contexte · organisation · effets éventuels</a:t>
            </a:r>
            <a:endParaRPr lang="fr-FR" sz="17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7A8B95"/>
                </a:solidFill>
                <a:latin typeface="Aptos"/>
              </a:rPr>
              <a:t>04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159A9C"/>
                </a:solidFill>
                <a:latin typeface="Aptos"/>
              </a:rPr>
              <a:t>02 · POSITIONNEMENT SCIENTIFIQUE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173A52"/>
                </a:solidFill>
                <a:latin typeface="Aptos"/>
              </a:rPr>
              <a:t>De la littérature à une question non résolue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60717D"/>
                </a:solidFill>
                <a:latin typeface="Aptos"/>
              </a:rPr>
              <a:t>Les ancrages servent des fonctions différentes ; leur rapprochement n’est pas encore une contribution.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450000" y="1800000"/>
            <a:ext cx="5000000" cy="145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233746"/>
                </a:solidFill>
                <a:latin typeface="Aptos"/>
              </a:rPr>
              <a:t>Sociotechnique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Outils · acteurs · organisation</a:t>
            </a:r>
            <a:endParaRPr lang="fr-FR" sz="1700"/>
          </a:p>
        </p:txBody>
      </p:sp>
      <p:sp>
        <p:nvSpPr>
          <p:cNvPr id="4" name="Text 4"/>
          <p:cNvSpPr txBox="1"/>
          <p:nvPr/>
        </p:nvSpPr>
        <p:spPr>
          <a:xfrm>
            <a:off x="6250000" y="1800000"/>
            <a:ext cx="5000000" cy="145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233746"/>
                </a:solidFill>
                <a:latin typeface="Aptos"/>
              </a:rPr>
              <a:t>Parties prenantes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Qui participe ? Qui arbitre ? Qui supporte les effets ?</a:t>
            </a:r>
            <a:endParaRPr lang="fr-FR" sz="1700"/>
          </a:p>
        </p:txBody>
      </p:sp>
      <p:sp>
        <p:nvSpPr>
          <p:cNvPr id="5" name="Text 5"/>
          <p:cNvSpPr txBox="1"/>
          <p:nvPr/>
        </p:nvSpPr>
        <p:spPr>
          <a:xfrm>
            <a:off x="450000" y="3700000"/>
            <a:ext cx="5000000" cy="145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233746"/>
                </a:solidFill>
                <a:latin typeface="Aptos"/>
              </a:rPr>
              <a:t>Capacités dynamiques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Détecter · saisir · reconfigurer</a:t>
            </a:r>
            <a:endParaRPr lang="fr-FR" sz="1700"/>
          </a:p>
        </p:txBody>
      </p:sp>
      <p:sp>
        <p:nvSpPr>
          <p:cNvPr id="6" name="Text 6"/>
          <p:cNvSpPr txBox="1"/>
          <p:nvPr/>
        </p:nvSpPr>
        <p:spPr>
          <a:xfrm>
            <a:off x="6250000" y="3700000"/>
            <a:ext cx="5000000" cy="1450000"/>
          </a:xfrm>
          <a:prstGeom prst="roundRect">
            <a:avLst/>
          </a:prstGeom>
          <a:solidFill>
            <a:srgbClr val="DDF2F1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233746"/>
                </a:solidFill>
                <a:latin typeface="Aptos"/>
              </a:rPr>
              <a:t>IE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Percevoir · comprendre · réguler</a:t>
            </a:r>
            <a:endParaRPr lang="fr-FR" sz="1700"/>
          </a:p>
        </p:txBody>
      </p:sp>
      <p:sp>
        <p:nvSpPr>
          <p:cNvPr id="7" name="Text 7"/>
          <p:cNvSpPr txBox="1"/>
          <p:nvPr/>
        </p:nvSpPr>
        <p:spPr>
          <a:xfrm>
            <a:off x="550000" y="5650000"/>
            <a:ext cx="11100000" cy="520000"/>
          </a:xfrm>
          <a:prstGeom prst="roundRect">
            <a:avLst/>
          </a:prstGeom>
          <a:solidFill>
            <a:srgbClr val="F7EEDB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600" b="1">
                <a:solidFill>
                  <a:srgbClr val="173A52"/>
                </a:solidFill>
                <a:latin typeface="Aptos"/>
              </a:rPr>
              <a:t>Contribution recherchée : documenter un mécanisme contextualisé dans les EPES gabonais, et non juxtaposer les sigles IA et IE.</a:t>
            </a:r>
            <a:endParaRPr lang="fr-FR" sz="16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7A8B95"/>
                </a:solidFill>
                <a:latin typeface="Aptos"/>
              </a:rPr>
              <a:t>05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159A9C"/>
                </a:solidFill>
                <a:latin typeface="Aptos"/>
              </a:rPr>
              <a:t>02 · CONCEPT CENTRAL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173A52"/>
                </a:solidFill>
                <a:latin typeface="Aptos"/>
              </a:rPr>
              <a:t>Gouvernance augmentée : une configuration à éprouver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60717D"/>
                </a:solidFill>
                <a:latin typeface="Aptos"/>
              </a:rPr>
              <a:t>Ce n’est pas encore un résultat : c’est une définition opérationnelle à confronter au terrain.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550000" y="1900000"/>
            <a:ext cx="3300000" cy="1500000"/>
          </a:xfrm>
          <a:prstGeom prst="roundRect">
            <a:avLst/>
          </a:prstGeom>
          <a:solidFill>
            <a:srgbClr val="159A9C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FFFFFF"/>
                </a:solidFill>
                <a:latin typeface="Aptos"/>
              </a:rPr>
              <a:t>IA EFFECTIVE</a:t>
            </a:r>
            <a:endParaRPr lang="fr-FR" sz="1800"/>
          </a:p>
          <a:p>
            <a:r>
              <a:rPr lang="fr-FR" sz="1800" b="1">
                <a:solidFill>
                  <a:srgbClr val="FFFFFF"/>
                </a:solidFill>
                <a:latin typeface="Aptos"/>
              </a:rPr>
              <a:t>Informations · analyses · recommandations</a:t>
            </a:r>
            <a:endParaRPr lang="fr-FR" sz="1800"/>
          </a:p>
        </p:txBody>
      </p:sp>
      <p:sp>
        <p:nvSpPr>
          <p:cNvPr id="4" name="Text 4"/>
          <p:cNvSpPr txBox="1"/>
          <p:nvPr/>
        </p:nvSpPr>
        <p:spPr>
          <a:xfrm>
            <a:off x="4400000" y="1900000"/>
            <a:ext cx="3300000" cy="1500000"/>
          </a:xfrm>
          <a:prstGeom prst="roundRect">
            <a:avLst/>
          </a:prstGeom>
          <a:solidFill>
            <a:srgbClr val="173A52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FFFFFF"/>
                </a:solidFill>
                <a:latin typeface="Aptos"/>
              </a:rPr>
              <a:t>JUGEMENT HUMAIN</a:t>
            </a:r>
            <a:endParaRPr lang="fr-FR" sz="1800"/>
          </a:p>
          <a:p>
            <a:r>
              <a:rPr lang="fr-FR" sz="1800" b="1">
                <a:solidFill>
                  <a:srgbClr val="FFFFFF"/>
                </a:solidFill>
                <a:latin typeface="Aptos"/>
              </a:rPr>
              <a:t>Confrontation individuelle ou collective</a:t>
            </a:r>
            <a:endParaRPr lang="fr-FR" sz="1800"/>
          </a:p>
        </p:txBody>
      </p:sp>
      <p:sp>
        <p:nvSpPr>
          <p:cNvPr id="5" name="Text 5"/>
          <p:cNvSpPr txBox="1"/>
          <p:nvPr/>
        </p:nvSpPr>
        <p:spPr>
          <a:xfrm>
            <a:off x="8300000" y="1900000"/>
            <a:ext cx="3000000" cy="1500000"/>
          </a:xfrm>
          <a:prstGeom prst="roundRect">
            <a:avLst/>
          </a:prstGeom>
          <a:solidFill>
            <a:srgbClr val="C08B2C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FFFFFF"/>
                </a:solidFill>
                <a:latin typeface="Aptos"/>
              </a:rPr>
              <a:t>RESPONSABILITÉ</a:t>
            </a:r>
            <a:endParaRPr lang="fr-FR" sz="1800"/>
          </a:p>
          <a:p>
            <a:r>
              <a:rPr lang="fr-FR" sz="1800" b="1">
                <a:solidFill>
                  <a:srgbClr val="FFFFFF"/>
                </a:solidFill>
                <a:latin typeface="Aptos"/>
              </a:rPr>
              <a:t>Décision · traçabilité · réversibilité</a:t>
            </a:r>
            <a:endParaRPr lang="fr-FR" sz="1800"/>
          </a:p>
        </p:txBody>
      </p:sp>
      <p:sp>
        <p:nvSpPr>
          <p:cNvPr id="6" name="Text 6"/>
          <p:cNvSpPr txBox="1"/>
          <p:nvPr/>
        </p:nvSpPr>
        <p:spPr>
          <a:xfrm>
            <a:off x="3850000" y="2350000"/>
            <a:ext cx="400000" cy="4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2800" b="1">
                <a:solidFill>
                  <a:srgbClr val="159A9C"/>
                </a:solidFill>
                <a:latin typeface="Aptos"/>
              </a:rPr>
              <a:t>→</a:t>
            </a:r>
            <a:endParaRPr lang="fr-FR" sz="2800"/>
          </a:p>
        </p:txBody>
      </p:sp>
      <p:sp>
        <p:nvSpPr>
          <p:cNvPr id="7" name="Text 7"/>
          <p:cNvSpPr txBox="1"/>
          <p:nvPr/>
        </p:nvSpPr>
        <p:spPr>
          <a:xfrm>
            <a:off x="7750000" y="2350000"/>
            <a:ext cx="400000" cy="4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2800" b="1">
                <a:solidFill>
                  <a:srgbClr val="C08B2C"/>
                </a:solidFill>
                <a:latin typeface="Aptos"/>
              </a:rPr>
              <a:t>→</a:t>
            </a:r>
            <a:endParaRPr lang="fr-FR" sz="2800"/>
          </a:p>
        </p:txBody>
      </p:sp>
      <p:sp>
        <p:nvSpPr>
          <p:cNvPr id="8" name="Text 8"/>
          <p:cNvSpPr txBox="1"/>
          <p:nvPr/>
        </p:nvSpPr>
        <p:spPr>
          <a:xfrm>
            <a:off x="550000" y="4300000"/>
            <a:ext cx="11100000" cy="1000000"/>
          </a:xfrm>
          <a:prstGeom prst="roundRect">
            <a:avLst/>
          </a:prstGeom>
          <a:solidFill>
            <a:srgbClr val="DDF2F1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173A52"/>
                </a:solidFill>
                <a:latin typeface="Aptos"/>
              </a:rPr>
              <a:t>La dimension émotionnelle et relationnelle peut être mobilisée dans la scène ; les règles de protection des données et les limites de l’outil restent des conditions.</a:t>
            </a:r>
            <a:endParaRPr lang="fr-FR" sz="18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7A8B95"/>
                </a:solidFill>
                <a:latin typeface="Aptos"/>
              </a:rPr>
              <a:t>06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159A9C"/>
                </a:solidFill>
                <a:latin typeface="Aptos"/>
              </a:rPr>
              <a:t>02 · MODÈLE CONCEPTUEL EXPLORATOIRE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173A52"/>
                </a:solidFill>
                <a:latin typeface="Aptos"/>
              </a:rPr>
              <a:t>P4 : un mécanisme à éprouver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60717D"/>
                </a:solidFill>
                <a:latin typeface="Aptos"/>
              </a:rPr>
              <a:t>P4 n’est pas une conclusion anticipée.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450000" y="1900000"/>
            <a:ext cx="2500000" cy="2000000"/>
          </a:xfrm>
          <a:prstGeom prst="roundRect">
            <a:avLst/>
          </a:prstGeom>
          <a:solidFill>
            <a:srgbClr val="159A9C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900" b="1">
                <a:solidFill>
                  <a:srgbClr val="FFFFFF"/>
                </a:solidFill>
                <a:latin typeface="Aptos"/>
              </a:rPr>
              <a:t>IA</a:t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/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>Informe</a:t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>anticipe</a:t>
            </a:r>
            <a:endParaRPr lang="fr-FR" sz="1900"/>
          </a:p>
        </p:txBody>
      </p:sp>
      <p:sp>
        <p:nvSpPr>
          <p:cNvPr id="4" name="Text 4"/>
          <p:cNvSpPr txBox="1"/>
          <p:nvPr/>
        </p:nvSpPr>
        <p:spPr>
          <a:xfrm>
            <a:off x="3000000" y="2500000"/>
            <a:ext cx="350000" cy="4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2600" b="1">
                <a:solidFill>
                  <a:srgbClr val="C08B2C"/>
                </a:solidFill>
                <a:latin typeface="Aptos"/>
              </a:rPr>
              <a:t>→</a:t>
            </a:r>
            <a:endParaRPr lang="fr-FR" sz="2600"/>
          </a:p>
        </p:txBody>
      </p:sp>
      <p:sp>
        <p:nvSpPr>
          <p:cNvPr id="5" name="Text 5"/>
          <p:cNvSpPr txBox="1"/>
          <p:nvPr/>
        </p:nvSpPr>
        <p:spPr>
          <a:xfrm>
            <a:off x="3450000" y="1900000"/>
            <a:ext cx="2500000" cy="2000000"/>
          </a:xfrm>
          <a:prstGeom prst="roundRect">
            <a:avLst/>
          </a:prstGeom>
          <a:solidFill>
            <a:srgbClr val="214E68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900" b="1">
                <a:solidFill>
                  <a:srgbClr val="FFFFFF"/>
                </a:solidFill>
                <a:latin typeface="Aptos"/>
              </a:rPr>
              <a:t>Délibération</a:t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/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>Confronte</a:t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>contextualise</a:t>
            </a:r>
            <a:endParaRPr lang="fr-FR" sz="1900"/>
          </a:p>
        </p:txBody>
      </p:sp>
      <p:sp>
        <p:nvSpPr>
          <p:cNvPr id="6" name="Text 6"/>
          <p:cNvSpPr txBox="1"/>
          <p:nvPr/>
        </p:nvSpPr>
        <p:spPr>
          <a:xfrm>
            <a:off x="6000000" y="2500000"/>
            <a:ext cx="350000" cy="4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2600" b="1">
                <a:solidFill>
                  <a:srgbClr val="C08B2C"/>
                </a:solidFill>
                <a:latin typeface="Aptos"/>
              </a:rPr>
              <a:t>→</a:t>
            </a:r>
            <a:endParaRPr lang="fr-FR" sz="2600"/>
          </a:p>
        </p:txBody>
      </p:sp>
      <p:sp>
        <p:nvSpPr>
          <p:cNvPr id="7" name="Text 7"/>
          <p:cNvSpPr txBox="1"/>
          <p:nvPr/>
        </p:nvSpPr>
        <p:spPr>
          <a:xfrm>
            <a:off x="6450000" y="1900000"/>
            <a:ext cx="2500000" cy="2000000"/>
          </a:xfrm>
          <a:prstGeom prst="roundRect">
            <a:avLst/>
          </a:prstGeom>
          <a:solidFill>
            <a:srgbClr val="C08B2C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900" b="1">
                <a:solidFill>
                  <a:srgbClr val="FFFFFF"/>
                </a:solidFill>
                <a:latin typeface="Aptos"/>
              </a:rPr>
              <a:t>IE</a:t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/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>Comprend</a:t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>régule</a:t>
            </a:r>
            <a:endParaRPr lang="fr-FR" sz="1900"/>
          </a:p>
        </p:txBody>
      </p:sp>
      <p:sp>
        <p:nvSpPr>
          <p:cNvPr id="8" name="Text 8"/>
          <p:cNvSpPr txBox="1"/>
          <p:nvPr/>
        </p:nvSpPr>
        <p:spPr>
          <a:xfrm>
            <a:off x="9000000" y="2500000"/>
            <a:ext cx="350000" cy="4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2600" b="1">
                <a:solidFill>
                  <a:srgbClr val="C08B2C"/>
                </a:solidFill>
                <a:latin typeface="Aptos"/>
              </a:rPr>
              <a:t>→</a:t>
            </a:r>
            <a:endParaRPr lang="fr-FR" sz="2600"/>
          </a:p>
        </p:txBody>
      </p:sp>
      <p:sp>
        <p:nvSpPr>
          <p:cNvPr id="9" name="Text 9"/>
          <p:cNvSpPr txBox="1"/>
          <p:nvPr/>
        </p:nvSpPr>
        <p:spPr>
          <a:xfrm>
            <a:off x="9450000" y="1900000"/>
            <a:ext cx="2500000" cy="2000000"/>
          </a:xfrm>
          <a:prstGeom prst="roundRect">
            <a:avLst/>
          </a:prstGeom>
          <a:solidFill>
            <a:srgbClr val="214E68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900" b="1">
                <a:solidFill>
                  <a:srgbClr val="FFFFFF"/>
                </a:solidFill>
                <a:latin typeface="Aptos"/>
              </a:rPr>
              <a:t>Humain</a:t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/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>Arbitre</a:t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>répond</a:t>
            </a:r>
            <a:endParaRPr lang="fr-FR" sz="1900"/>
          </a:p>
        </p:txBody>
      </p:sp>
      <p:sp>
        <p:nvSpPr>
          <p:cNvPr id="10" name="Text 10"/>
          <p:cNvSpPr txBox="1"/>
          <p:nvPr/>
        </p:nvSpPr>
        <p:spPr>
          <a:xfrm>
            <a:off x="550000" y="5000000"/>
            <a:ext cx="11100000" cy="700000"/>
          </a:xfrm>
          <a:prstGeom prst="roundRect">
            <a:avLst/>
          </a:prstGeom>
          <a:solidFill>
            <a:srgbClr val="F7EEDB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173A52"/>
                </a:solidFill>
                <a:latin typeface="Aptos"/>
              </a:rPr>
              <a:t>À vérifier : qui orchestre ? quelle séquence ? que confirme, modifie ou écarte le jugement humain ? quelles explications rivales ?</a:t>
            </a:r>
            <a:endParaRPr lang="fr-FR" sz="18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7A8B95"/>
                </a:solidFill>
                <a:latin typeface="Aptos"/>
              </a:rPr>
              <a:t>07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159A9C"/>
                </a:solidFill>
                <a:latin typeface="Aptos"/>
              </a:rPr>
              <a:t>02 · ATTRIBUTS ET EXCLUSIONS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173A52"/>
                </a:solidFill>
                <a:latin typeface="Aptos"/>
              </a:rPr>
              <a:t>Passer des mots aux traces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60717D"/>
                </a:solidFill>
                <a:latin typeface="Aptos"/>
              </a:rPr>
              <a:t>A1–A5 devront être reliés à des indices, des sources et des marqueurs datés.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420000" y="1700000"/>
            <a:ext cx="2000000" cy="2050000"/>
          </a:xfrm>
          <a:prstGeom prst="roundRect">
            <a:avLst/>
          </a:prstGeom>
          <a:solidFill>
            <a:srgbClr val="159A9C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600" b="1">
                <a:solidFill>
                  <a:srgbClr val="FFFFFF"/>
                </a:solidFill>
                <a:latin typeface="Aptos"/>
              </a:rPr>
              <a:t>A1</a:t>
            </a:r>
            <a:endParaRPr lang="fr-FR" sz="1600"/>
          </a:p>
          <a:p>
            <a:r>
              <a:rPr lang="fr-FR" sz="1600" b="1">
                <a:solidFill>
                  <a:srgbClr val="FFFFFF"/>
                </a:solidFill>
                <a:latin typeface="Aptos"/>
              </a:rPr>
              <a:t/>
            </a:r>
            <a:endParaRPr lang="fr-FR" sz="1600"/>
          </a:p>
          <a:p>
            <a:r>
              <a:rPr lang="fr-FR" sz="1600" b="1">
                <a:solidFill>
                  <a:srgbClr val="FFFFFF"/>
                </a:solidFill>
                <a:latin typeface="Aptos"/>
              </a:rPr>
              <a:t>Usage effectif</a:t>
            </a:r>
            <a:endParaRPr lang="fr-FR" sz="1600"/>
          </a:p>
          <a:p>
            <a:r>
              <a:rPr lang="fr-FR" sz="1600" b="1">
                <a:solidFill>
                  <a:srgbClr val="FFFFFF"/>
                </a:solidFill>
                <a:latin typeface="Aptos"/>
              </a:rPr>
              <a:t>de l’IA</a:t>
            </a:r>
            <a:endParaRPr lang="fr-FR" sz="1600"/>
          </a:p>
        </p:txBody>
      </p:sp>
      <p:sp>
        <p:nvSpPr>
          <p:cNvPr id="4" name="Text 4"/>
          <p:cNvSpPr txBox="1"/>
          <p:nvPr/>
        </p:nvSpPr>
        <p:spPr>
          <a:xfrm>
            <a:off x="2840000" y="1700000"/>
            <a:ext cx="2000000" cy="2050000"/>
          </a:xfrm>
          <a:prstGeom prst="roundRect">
            <a:avLst/>
          </a:prstGeom>
          <a:solidFill>
            <a:srgbClr val="214E68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600" b="1">
                <a:solidFill>
                  <a:srgbClr val="FFFFFF"/>
                </a:solidFill>
                <a:latin typeface="Aptos"/>
              </a:rPr>
              <a:t>A2</a:t>
            </a:r>
            <a:endParaRPr lang="fr-FR" sz="1600"/>
          </a:p>
          <a:p>
            <a:r>
              <a:rPr lang="fr-FR" sz="1600" b="1">
                <a:solidFill>
                  <a:srgbClr val="FFFFFF"/>
                </a:solidFill>
                <a:latin typeface="Aptos"/>
              </a:rPr>
              <a:t/>
            </a:r>
            <a:endParaRPr lang="fr-FR" sz="1600"/>
          </a:p>
          <a:p>
            <a:r>
              <a:rPr lang="fr-FR" sz="1600" b="1">
                <a:solidFill>
                  <a:srgbClr val="FFFFFF"/>
                </a:solidFill>
                <a:latin typeface="Aptos"/>
              </a:rPr>
              <a:t>Dernier mot</a:t>
            </a:r>
            <a:endParaRPr lang="fr-FR" sz="1600"/>
          </a:p>
          <a:p>
            <a:r>
              <a:rPr lang="fr-FR" sz="1600" b="1">
                <a:solidFill>
                  <a:srgbClr val="FFFFFF"/>
                </a:solidFill>
                <a:latin typeface="Aptos"/>
              </a:rPr>
              <a:t>humain</a:t>
            </a:r>
            <a:endParaRPr lang="fr-FR" sz="1600"/>
          </a:p>
        </p:txBody>
      </p:sp>
      <p:sp>
        <p:nvSpPr>
          <p:cNvPr id="5" name="Text 5"/>
          <p:cNvSpPr txBox="1"/>
          <p:nvPr/>
        </p:nvSpPr>
        <p:spPr>
          <a:xfrm>
            <a:off x="5260000" y="1700000"/>
            <a:ext cx="2000000" cy="2050000"/>
          </a:xfrm>
          <a:prstGeom prst="roundRect">
            <a:avLst/>
          </a:prstGeom>
          <a:solidFill>
            <a:srgbClr val="C08B2C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600" b="1">
                <a:solidFill>
                  <a:srgbClr val="FFFFFF"/>
                </a:solidFill>
                <a:latin typeface="Aptos"/>
              </a:rPr>
              <a:t>A3</a:t>
            </a:r>
            <a:endParaRPr lang="fr-FR" sz="1600"/>
          </a:p>
          <a:p>
            <a:r>
              <a:rPr lang="fr-FR" sz="1600" b="1">
                <a:solidFill>
                  <a:srgbClr val="FFFFFF"/>
                </a:solidFill>
                <a:latin typeface="Aptos"/>
              </a:rPr>
              <a:t/>
            </a:r>
            <a:endParaRPr lang="fr-FR" sz="1600"/>
          </a:p>
          <a:p>
            <a:r>
              <a:rPr lang="fr-FR" sz="1600" b="1">
                <a:solidFill>
                  <a:srgbClr val="FFFFFF"/>
                </a:solidFill>
                <a:latin typeface="Aptos"/>
              </a:rPr>
              <a:t>Dimension</a:t>
            </a:r>
            <a:endParaRPr lang="fr-FR" sz="1600"/>
          </a:p>
          <a:p>
            <a:r>
              <a:rPr lang="fr-FR" sz="1600" b="1">
                <a:solidFill>
                  <a:srgbClr val="FFFFFF"/>
                </a:solidFill>
                <a:latin typeface="Aptos"/>
              </a:rPr>
              <a:t>émotionnelle</a:t>
            </a:r>
            <a:endParaRPr lang="fr-FR" sz="1600"/>
          </a:p>
        </p:txBody>
      </p:sp>
      <p:sp>
        <p:nvSpPr>
          <p:cNvPr id="6" name="Text 6"/>
          <p:cNvSpPr txBox="1"/>
          <p:nvPr/>
        </p:nvSpPr>
        <p:spPr>
          <a:xfrm>
            <a:off x="7680000" y="1700000"/>
            <a:ext cx="2000000" cy="2050000"/>
          </a:xfrm>
          <a:prstGeom prst="roundRect">
            <a:avLst/>
          </a:prstGeom>
          <a:solidFill>
            <a:srgbClr val="159A9C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600" b="1">
                <a:solidFill>
                  <a:srgbClr val="FFFFFF"/>
                </a:solidFill>
                <a:latin typeface="Aptos"/>
              </a:rPr>
              <a:t>A4</a:t>
            </a:r>
            <a:endParaRPr lang="fr-FR" sz="1600"/>
          </a:p>
          <a:p>
            <a:r>
              <a:rPr lang="fr-FR" sz="1600" b="1">
                <a:solidFill>
                  <a:srgbClr val="FFFFFF"/>
                </a:solidFill>
                <a:latin typeface="Aptos"/>
              </a:rPr>
              <a:t/>
            </a:r>
            <a:endParaRPr lang="fr-FR" sz="1600"/>
          </a:p>
          <a:p>
            <a:r>
              <a:rPr lang="fr-FR" sz="1600" b="1">
                <a:solidFill>
                  <a:srgbClr val="FFFFFF"/>
                </a:solidFill>
                <a:latin typeface="Aptos"/>
              </a:rPr>
              <a:t>Orchestration</a:t>
            </a:r>
            <a:endParaRPr lang="fr-FR" sz="1600"/>
          </a:p>
          <a:p>
            <a:r>
              <a:rPr lang="fr-FR" sz="1600" b="1">
                <a:solidFill>
                  <a:srgbClr val="FFFFFF"/>
                </a:solidFill>
                <a:latin typeface="Aptos"/>
              </a:rPr>
              <a:t>et apprentissage</a:t>
            </a:r>
            <a:endParaRPr lang="fr-FR" sz="1600"/>
          </a:p>
        </p:txBody>
      </p:sp>
      <p:sp>
        <p:nvSpPr>
          <p:cNvPr id="7" name="Text 7"/>
          <p:cNvSpPr txBox="1"/>
          <p:nvPr/>
        </p:nvSpPr>
        <p:spPr>
          <a:xfrm>
            <a:off x="10100000" y="1700000"/>
            <a:ext cx="2000000" cy="2050000"/>
          </a:xfrm>
          <a:prstGeom prst="roundRect">
            <a:avLst/>
          </a:prstGeom>
          <a:solidFill>
            <a:srgbClr val="214E68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600" b="1">
                <a:solidFill>
                  <a:srgbClr val="FFFFFF"/>
                </a:solidFill>
                <a:latin typeface="Aptos"/>
              </a:rPr>
              <a:t>A5</a:t>
            </a:r>
            <a:endParaRPr lang="fr-FR" sz="1600"/>
          </a:p>
          <a:p>
            <a:r>
              <a:rPr lang="fr-FR" sz="1600" b="1">
                <a:solidFill>
                  <a:srgbClr val="FFFFFF"/>
                </a:solidFill>
                <a:latin typeface="Aptos"/>
              </a:rPr>
              <a:t/>
            </a:r>
            <a:endParaRPr lang="fr-FR" sz="1600"/>
          </a:p>
          <a:p>
            <a:r>
              <a:rPr lang="fr-FR" sz="1600" b="1">
                <a:solidFill>
                  <a:srgbClr val="FFFFFF"/>
                </a:solidFill>
                <a:latin typeface="Aptos"/>
              </a:rPr>
              <a:t>Garde-fous</a:t>
            </a:r>
            <a:endParaRPr lang="fr-FR" sz="1600"/>
          </a:p>
          <a:p>
            <a:r>
              <a:rPr lang="fr-FR" sz="1600" b="1">
                <a:solidFill>
                  <a:srgbClr val="FFFFFF"/>
                </a:solidFill>
                <a:latin typeface="Aptos"/>
              </a:rPr>
              <a:t>et responsabilité</a:t>
            </a:r>
            <a:endParaRPr lang="fr-FR" sz="1600"/>
          </a:p>
        </p:txBody>
      </p:sp>
      <p:sp>
        <p:nvSpPr>
          <p:cNvPr id="8" name="Text 8"/>
          <p:cNvSpPr txBox="1"/>
          <p:nvPr/>
        </p:nvSpPr>
        <p:spPr>
          <a:xfrm>
            <a:off x="550000" y="4650000"/>
            <a:ext cx="11100000" cy="700000"/>
          </a:xfrm>
          <a:prstGeom prst="roundRect">
            <a:avLst/>
          </a:prstGeom>
          <a:solidFill>
            <a:srgbClr val="DDF2F1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173A52"/>
                </a:solidFill>
                <a:latin typeface="Aptos"/>
              </a:rPr>
              <a:t>Exclusions E1–E3 : pilotage instrumenté · automatisation/numérisation isolée · usage déclaratif ou occasionnel.</a:t>
            </a:r>
            <a:endParaRPr lang="fr-FR" sz="1700"/>
          </a:p>
        </p:txBody>
      </p:sp>
      <p:sp>
        <p:nvSpPr>
          <p:cNvPr id="9" name="Text 9"/>
          <p:cNvSpPr txBox="1"/>
          <p:nvPr/>
        </p:nvSpPr>
        <p:spPr>
          <a:xfrm>
            <a:off x="550000" y="5500000"/>
            <a:ext cx="11100000" cy="550000"/>
          </a:xfrm>
          <a:prstGeom prst="roundRect">
            <a:avLst/>
          </a:prstGeom>
          <a:solidFill>
            <a:srgbClr val="F7EEDB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600" b="1">
                <a:solidFill>
                  <a:srgbClr val="173A52"/>
                </a:solidFill>
                <a:latin typeface="Aptos"/>
              </a:rPr>
              <a:t>Une attitude cordiale ne suffit pas à établir l’IE ; une mention d’IA ne suffit pas à établir l’IA dans une décision.</a:t>
            </a:r>
            <a:endParaRPr lang="fr-FR" sz="16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7A8B95"/>
                </a:solidFill>
                <a:latin typeface="Aptos"/>
              </a:rPr>
              <a:t>08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159A9C"/>
                </a:solidFill>
                <a:latin typeface="Aptos"/>
              </a:rPr>
              <a:t>02 · PROPOSITIONS DE RECHERCHE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173A52"/>
                </a:solidFill>
                <a:latin typeface="Aptos"/>
              </a:rPr>
              <a:t>P1–P7 : propositions à confronter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60717D"/>
                </a:solidFill>
                <a:latin typeface="Aptos"/>
              </a:rPr>
              <a:t>Avant le terrain, chaque proposition reste une orientation analytique.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550000" y="1850000"/>
            <a:ext cx="5000000" cy="145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233746"/>
                </a:solidFill>
                <a:latin typeface="Aptos"/>
              </a:rPr>
              <a:t>P1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/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Polycrise et transformation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des pratiques</a:t>
            </a:r>
            <a:endParaRPr lang="fr-FR" sz="1800"/>
          </a:p>
        </p:txBody>
      </p:sp>
      <p:sp>
        <p:nvSpPr>
          <p:cNvPr id="4" name="Text 4"/>
          <p:cNvSpPr txBox="1"/>
          <p:nvPr/>
        </p:nvSpPr>
        <p:spPr>
          <a:xfrm>
            <a:off x="6300000" y="1850000"/>
            <a:ext cx="5000000" cy="1450000"/>
          </a:xfrm>
          <a:prstGeom prst="roundRect">
            <a:avLst/>
          </a:prstGeom>
          <a:solidFill>
            <a:srgbClr val="DDF2F1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233746"/>
                </a:solidFill>
                <a:latin typeface="Aptos"/>
              </a:rPr>
              <a:t>P2–P4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/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IA · IE · articulation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dans la décision</a:t>
            </a:r>
            <a:endParaRPr lang="fr-FR" sz="1800"/>
          </a:p>
        </p:txBody>
      </p:sp>
      <p:sp>
        <p:nvSpPr>
          <p:cNvPr id="5" name="Text 5"/>
          <p:cNvSpPr txBox="1"/>
          <p:nvPr/>
        </p:nvSpPr>
        <p:spPr>
          <a:xfrm>
            <a:off x="550000" y="3700000"/>
            <a:ext cx="5000000" cy="145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233746"/>
                </a:solidFill>
                <a:latin typeface="Aptos"/>
              </a:rPr>
              <a:t>P5–P6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/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Performance globale · RSE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Développement durable</a:t>
            </a:r>
            <a:endParaRPr lang="fr-FR" sz="1800"/>
          </a:p>
        </p:txBody>
      </p:sp>
      <p:sp>
        <p:nvSpPr>
          <p:cNvPr id="6" name="Text 6"/>
          <p:cNvSpPr txBox="1"/>
          <p:nvPr/>
        </p:nvSpPr>
        <p:spPr>
          <a:xfrm>
            <a:off x="6300000" y="3700000"/>
            <a:ext cx="5000000" cy="1450000"/>
          </a:xfrm>
          <a:prstGeom prst="roundRect">
            <a:avLst/>
          </a:prstGeom>
          <a:solidFill>
            <a:srgbClr val="DDF2F1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233746"/>
                </a:solidFill>
                <a:latin typeface="Aptos"/>
              </a:rPr>
              <a:t>P7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/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Conditions organisationnelles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humaines et éthiques</a:t>
            </a:r>
            <a:endParaRPr lang="fr-FR" sz="1800"/>
          </a:p>
        </p:txBody>
      </p:sp>
      <p:sp>
        <p:nvSpPr>
          <p:cNvPr id="7" name="Text 7"/>
          <p:cNvSpPr txBox="1"/>
          <p:nvPr/>
        </p:nvSpPr>
        <p:spPr>
          <a:xfrm>
            <a:off x="550000" y="5650000"/>
            <a:ext cx="11100000" cy="500000"/>
          </a:xfrm>
          <a:prstGeom prst="roundRect">
            <a:avLst/>
          </a:prstGeom>
          <a:solidFill>
            <a:srgbClr val="F7EEDB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600" b="1">
                <a:solidFill>
                  <a:srgbClr val="173A52"/>
                </a:solidFill>
                <a:latin typeface="Aptos"/>
              </a:rPr>
              <a:t>Confirmation · nuance · remise en question : uniquement après confrontation aux matériaux.</a:t>
            </a:r>
            <a:endParaRPr lang="fr-FR" sz="16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7A8B95"/>
                </a:solidFill>
                <a:latin typeface="Aptos"/>
              </a:rPr>
              <a:t>09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159A9C"/>
                </a:solidFill>
                <a:latin typeface="Aptos"/>
              </a:rPr>
              <a:t>03 · DISPOSITIF MÉTHODOLOGIQUE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173A52"/>
                </a:solidFill>
                <a:latin typeface="Aptos"/>
              </a:rPr>
              <a:t>Une étude qualitative multi-cas à stabiliser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60717D"/>
                </a:solidFill>
                <a:latin typeface="Aptos"/>
              </a:rPr>
              <a:t>Dispositif prévu ≠ corpus effectivement analysé.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450000" y="2000000"/>
            <a:ext cx="2400000" cy="2150000"/>
          </a:xfrm>
          <a:prstGeom prst="roundRect">
            <a:avLst/>
          </a:prstGeom>
          <a:solidFill>
            <a:srgbClr val="159A9C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900" b="1">
                <a:solidFill>
                  <a:srgbClr val="FFFFFF"/>
                </a:solidFill>
                <a:latin typeface="Aptos"/>
              </a:rPr>
              <a:t>5 EPES</a:t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/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>visés</a:t>
            </a:r>
            <a:endParaRPr lang="fr-FR" sz="1900"/>
          </a:p>
        </p:txBody>
      </p:sp>
      <p:sp>
        <p:nvSpPr>
          <p:cNvPr id="4" name="Text 4"/>
          <p:cNvSpPr txBox="1"/>
          <p:nvPr/>
        </p:nvSpPr>
        <p:spPr>
          <a:xfrm>
            <a:off x="3400000" y="2000000"/>
            <a:ext cx="2400000" cy="2150000"/>
          </a:xfrm>
          <a:prstGeom prst="roundRect">
            <a:avLst/>
          </a:prstGeom>
          <a:solidFill>
            <a:srgbClr val="159A9C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900" b="1">
                <a:solidFill>
                  <a:srgbClr val="FFFFFF"/>
                </a:solidFill>
                <a:latin typeface="Aptos"/>
              </a:rPr>
              <a:t>45</a:t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/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>participants visés</a:t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>(non-quota)</a:t>
            </a:r>
            <a:endParaRPr lang="fr-FR" sz="1900"/>
          </a:p>
        </p:txBody>
      </p:sp>
      <p:sp>
        <p:nvSpPr>
          <p:cNvPr id="5" name="Text 5"/>
          <p:cNvSpPr txBox="1"/>
          <p:nvPr/>
        </p:nvSpPr>
        <p:spPr>
          <a:xfrm>
            <a:off x="6350000" y="2000000"/>
            <a:ext cx="2400000" cy="2150000"/>
          </a:xfrm>
          <a:prstGeom prst="roundRect">
            <a:avLst/>
          </a:prstGeom>
          <a:solidFill>
            <a:srgbClr val="214E68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900" b="1">
                <a:solidFill>
                  <a:srgbClr val="FFFFFF"/>
                </a:solidFill>
                <a:latin typeface="Aptos"/>
              </a:rPr>
              <a:t>E · O · D</a:t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/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>entretiens · observations</a:t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>documents</a:t>
            </a:r>
            <a:endParaRPr lang="fr-FR" sz="1900"/>
          </a:p>
        </p:txBody>
      </p:sp>
      <p:sp>
        <p:nvSpPr>
          <p:cNvPr id="6" name="Text 6"/>
          <p:cNvSpPr txBox="1"/>
          <p:nvPr/>
        </p:nvSpPr>
        <p:spPr>
          <a:xfrm>
            <a:off x="9300000" y="2000000"/>
            <a:ext cx="2400000" cy="2150000"/>
          </a:xfrm>
          <a:prstGeom prst="roundRect">
            <a:avLst/>
          </a:prstGeom>
          <a:solidFill>
            <a:srgbClr val="214E68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900" b="1">
                <a:solidFill>
                  <a:srgbClr val="FFFFFF"/>
                </a:solidFill>
                <a:latin typeface="Aptos"/>
              </a:rPr>
              <a:t>Scène</a:t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/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>configuration</a:t>
            </a:r>
            <a:endParaRPr lang="fr-FR" sz="1900"/>
          </a:p>
          <a:p>
            <a:r>
              <a:rPr lang="fr-FR" sz="1900" b="1">
                <a:solidFill>
                  <a:srgbClr val="FFFFFF"/>
                </a:solidFill>
                <a:latin typeface="Aptos"/>
              </a:rPr>
              <a:t>de gouvernance</a:t>
            </a:r>
            <a:endParaRPr lang="fr-FR" sz="1900"/>
          </a:p>
        </p:txBody>
      </p:sp>
      <p:sp>
        <p:nvSpPr>
          <p:cNvPr id="7" name="Text 7"/>
          <p:cNvSpPr txBox="1"/>
          <p:nvPr/>
        </p:nvSpPr>
        <p:spPr>
          <a:xfrm>
            <a:off x="550000" y="5050000"/>
            <a:ext cx="11100000" cy="650000"/>
          </a:xfrm>
          <a:prstGeom prst="roundRect">
            <a:avLst/>
          </a:prstGeom>
          <a:solidFill>
            <a:srgbClr val="DDF2F1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600" b="1">
                <a:solidFill>
                  <a:srgbClr val="173A52"/>
                </a:solidFill>
                <a:latin typeface="Aptos"/>
              </a:rPr>
              <a:t>Interprétativisme à sensibilité constructiviste · raisonnement abductif · étude de cas multiples · échantillonnage raisonné et contrasté.</a:t>
            </a:r>
            <a:endParaRPr lang="fr-FR" sz="16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7A8B95"/>
                </a:solidFill>
                <a:latin typeface="Aptos"/>
              </a:rPr>
              <a:t>10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159A9C"/>
                </a:solidFill>
                <a:latin typeface="Aptos"/>
              </a:rPr>
              <a:t>03 · ANALYSE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173A52"/>
                </a:solidFill>
                <a:latin typeface="Aptos"/>
              </a:rPr>
              <a:t>La scène décisionnelle comme unité d’analyse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60717D"/>
                </a:solidFill>
                <a:latin typeface="Aptos"/>
              </a:rPr>
              <a:t>Reconstituer une décision, pas seulement recueillir un discours.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350000" y="1800000"/>
            <a:ext cx="2500000" cy="240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233746"/>
                </a:solidFill>
                <a:latin typeface="Aptos"/>
              </a:rPr>
              <a:t>1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Situation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Contexte · tension · acteurs</a:t>
            </a:r>
            <a:endParaRPr lang="fr-FR" sz="1700"/>
          </a:p>
        </p:txBody>
      </p:sp>
      <p:sp>
        <p:nvSpPr>
          <p:cNvPr id="4" name="Text 4"/>
          <p:cNvSpPr txBox="1"/>
          <p:nvPr/>
        </p:nvSpPr>
        <p:spPr>
          <a:xfrm>
            <a:off x="3350000" y="1800000"/>
            <a:ext cx="2500000" cy="2400000"/>
          </a:xfrm>
          <a:prstGeom prst="roundRect">
            <a:avLst/>
          </a:prstGeom>
          <a:solidFill>
            <a:srgbClr val="DDF2F1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233746"/>
                </a:solidFill>
                <a:latin typeface="Aptos"/>
              </a:rPr>
              <a:t>2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Capacités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IA qualifiée · IE située</a:t>
            </a:r>
            <a:endParaRPr lang="fr-FR" sz="1700"/>
          </a:p>
        </p:txBody>
      </p:sp>
      <p:sp>
        <p:nvSpPr>
          <p:cNvPr id="5" name="Text 5"/>
          <p:cNvSpPr txBox="1"/>
          <p:nvPr/>
        </p:nvSpPr>
        <p:spPr>
          <a:xfrm>
            <a:off x="6350000" y="1800000"/>
            <a:ext cx="2500000" cy="240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233746"/>
                </a:solidFill>
                <a:latin typeface="Aptos"/>
              </a:rPr>
              <a:t>3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Délibération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Échanges · objections · arbitrage</a:t>
            </a:r>
            <a:endParaRPr lang="fr-FR" sz="1700"/>
          </a:p>
        </p:txBody>
      </p:sp>
      <p:sp>
        <p:nvSpPr>
          <p:cNvPr id="6" name="Text 6"/>
          <p:cNvSpPr txBox="1"/>
          <p:nvPr/>
        </p:nvSpPr>
        <p:spPr>
          <a:xfrm>
            <a:off x="9350000" y="1800000"/>
            <a:ext cx="2500000" cy="2400000"/>
          </a:xfrm>
          <a:prstGeom prst="roundRect">
            <a:avLst/>
          </a:prstGeom>
          <a:solidFill>
            <a:srgbClr val="DDF2F1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233746"/>
                </a:solidFill>
                <a:latin typeface="Aptos"/>
              </a:rPr>
              <a:t>4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Décision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Autorité · justification · suivi</a:t>
            </a:r>
            <a:endParaRPr lang="fr-FR" sz="1700"/>
          </a:p>
        </p:txBody>
      </p:sp>
      <p:sp>
        <p:nvSpPr>
          <p:cNvPr id="7" name="Text 7"/>
          <p:cNvSpPr txBox="1"/>
          <p:nvPr/>
        </p:nvSpPr>
        <p:spPr>
          <a:xfrm>
            <a:off x="550000" y="5150000"/>
            <a:ext cx="11100000" cy="650000"/>
          </a:xfrm>
          <a:prstGeom prst="roundRect">
            <a:avLst/>
          </a:prstGeom>
          <a:solidFill>
            <a:srgbClr val="F7EEDB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173A52"/>
                </a:solidFill>
                <a:latin typeface="Aptos"/>
              </a:rPr>
              <a:t>Trace décisive : ce qui relie — ou ne relie pas — l’apport technique et la prise en compte émotionnelle.</a:t>
            </a:r>
            <a:endParaRPr lang="fr-FR" sz="18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7A8B95"/>
                </a:solidFill>
                <a:latin typeface="Aptos"/>
              </a:rPr>
              <a:t>11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159A9C"/>
                </a:solidFill>
                <a:latin typeface="Aptos"/>
              </a:rPr>
              <a:t>03 · CHAÎNE DE PREUVES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173A52"/>
                </a:solidFill>
                <a:latin typeface="Aptos"/>
              </a:rPr>
              <a:t>Du matériau à l’interprétation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60717D"/>
                </a:solidFill>
                <a:latin typeface="Aptos"/>
              </a:rPr>
              <a:t>Chaque futur résultat devra renvoyer à un matériau authentique.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350000" y="2050000"/>
            <a:ext cx="1900000" cy="1650000"/>
          </a:xfrm>
          <a:prstGeom prst="roundRect">
            <a:avLst/>
          </a:prstGeom>
          <a:solidFill>
            <a:srgbClr val="159A9C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FFFFFF"/>
                </a:solidFill>
                <a:latin typeface="Aptos"/>
              </a:rPr>
              <a:t>Question</a:t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>Pourquoi ?</a:t>
            </a:r>
            <a:endParaRPr lang="fr-FR" sz="1700"/>
          </a:p>
        </p:txBody>
      </p:sp>
      <p:sp>
        <p:nvSpPr>
          <p:cNvPr id="4" name="Text 4"/>
          <p:cNvSpPr txBox="1"/>
          <p:nvPr/>
        </p:nvSpPr>
        <p:spPr>
          <a:xfrm>
            <a:off x="2300000" y="2550000"/>
            <a:ext cx="400000" cy="45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2500" b="1">
                <a:solidFill>
                  <a:srgbClr val="C08B2C"/>
                </a:solidFill>
                <a:latin typeface="Aptos"/>
              </a:rPr>
              <a:t>→</a:t>
            </a:r>
            <a:endParaRPr lang="fr-FR" sz="2500"/>
          </a:p>
        </p:txBody>
      </p:sp>
      <p:sp>
        <p:nvSpPr>
          <p:cNvPr id="5" name="Text 5"/>
          <p:cNvSpPr txBox="1"/>
          <p:nvPr/>
        </p:nvSpPr>
        <p:spPr>
          <a:xfrm>
            <a:off x="2770000" y="2050000"/>
            <a:ext cx="1900000" cy="1650000"/>
          </a:xfrm>
          <a:prstGeom prst="roundRect">
            <a:avLst/>
          </a:prstGeom>
          <a:solidFill>
            <a:srgbClr val="159A9C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FFFFFF"/>
                </a:solidFill>
                <a:latin typeface="Aptos"/>
              </a:rPr>
              <a:t>Proposition</a:t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>Quoi tester ?</a:t>
            </a:r>
            <a:endParaRPr lang="fr-FR" sz="1700"/>
          </a:p>
        </p:txBody>
      </p:sp>
      <p:sp>
        <p:nvSpPr>
          <p:cNvPr id="6" name="Text 6"/>
          <p:cNvSpPr txBox="1"/>
          <p:nvPr/>
        </p:nvSpPr>
        <p:spPr>
          <a:xfrm>
            <a:off x="4720000" y="2550000"/>
            <a:ext cx="400000" cy="45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2500" b="1">
                <a:solidFill>
                  <a:srgbClr val="C08B2C"/>
                </a:solidFill>
                <a:latin typeface="Aptos"/>
              </a:rPr>
              <a:t>→</a:t>
            </a:r>
            <a:endParaRPr lang="fr-FR" sz="2500"/>
          </a:p>
        </p:txBody>
      </p:sp>
      <p:sp>
        <p:nvSpPr>
          <p:cNvPr id="7" name="Text 7"/>
          <p:cNvSpPr txBox="1"/>
          <p:nvPr/>
        </p:nvSpPr>
        <p:spPr>
          <a:xfrm>
            <a:off x="5190000" y="2050000"/>
            <a:ext cx="1900000" cy="1650000"/>
          </a:xfrm>
          <a:prstGeom prst="roundRect">
            <a:avLst/>
          </a:prstGeom>
          <a:solidFill>
            <a:srgbClr val="214E68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FFFFFF"/>
                </a:solidFill>
                <a:latin typeface="Aptos"/>
              </a:rPr>
              <a:t>Matériau</a:t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>Quelle trace ?</a:t>
            </a:r>
            <a:endParaRPr lang="fr-FR" sz="1700"/>
          </a:p>
        </p:txBody>
      </p:sp>
      <p:sp>
        <p:nvSpPr>
          <p:cNvPr id="8" name="Text 8"/>
          <p:cNvSpPr txBox="1"/>
          <p:nvPr/>
        </p:nvSpPr>
        <p:spPr>
          <a:xfrm>
            <a:off x="7140000" y="2550000"/>
            <a:ext cx="400000" cy="45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2500" b="1">
                <a:solidFill>
                  <a:srgbClr val="C08B2C"/>
                </a:solidFill>
                <a:latin typeface="Aptos"/>
              </a:rPr>
              <a:t>→</a:t>
            </a:r>
            <a:endParaRPr lang="fr-FR" sz="2500"/>
          </a:p>
        </p:txBody>
      </p:sp>
      <p:sp>
        <p:nvSpPr>
          <p:cNvPr id="9" name="Text 9"/>
          <p:cNvSpPr txBox="1"/>
          <p:nvPr/>
        </p:nvSpPr>
        <p:spPr>
          <a:xfrm>
            <a:off x="7610000" y="2050000"/>
            <a:ext cx="1900000" cy="1650000"/>
          </a:xfrm>
          <a:prstGeom prst="roundRect">
            <a:avLst/>
          </a:prstGeom>
          <a:solidFill>
            <a:srgbClr val="214E68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FFFFFF"/>
                </a:solidFill>
                <a:latin typeface="Aptos"/>
              </a:rPr>
              <a:t>Codage</a:t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>Quelle règle ?</a:t>
            </a:r>
            <a:endParaRPr lang="fr-FR" sz="1700"/>
          </a:p>
        </p:txBody>
      </p:sp>
      <p:sp>
        <p:nvSpPr>
          <p:cNvPr id="10" name="Text 10"/>
          <p:cNvSpPr txBox="1"/>
          <p:nvPr/>
        </p:nvSpPr>
        <p:spPr>
          <a:xfrm>
            <a:off x="9560000" y="2550000"/>
            <a:ext cx="400000" cy="45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2500" b="1">
                <a:solidFill>
                  <a:srgbClr val="C08B2C"/>
                </a:solidFill>
                <a:latin typeface="Aptos"/>
              </a:rPr>
              <a:t>→</a:t>
            </a:r>
            <a:endParaRPr lang="fr-FR" sz="2500"/>
          </a:p>
        </p:txBody>
      </p:sp>
      <p:sp>
        <p:nvSpPr>
          <p:cNvPr id="11" name="Text 11"/>
          <p:cNvSpPr txBox="1"/>
          <p:nvPr/>
        </p:nvSpPr>
        <p:spPr>
          <a:xfrm>
            <a:off x="10030000" y="2050000"/>
            <a:ext cx="1900000" cy="1650000"/>
          </a:xfrm>
          <a:prstGeom prst="roundRect">
            <a:avLst/>
          </a:prstGeom>
          <a:solidFill>
            <a:srgbClr val="214E68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FFFFFF"/>
                </a:solidFill>
                <a:latin typeface="Aptos"/>
              </a:rPr>
              <a:t>Interprétation</a:t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>Quelle portée ?</a:t>
            </a:r>
            <a:endParaRPr lang="fr-FR" sz="1700"/>
          </a:p>
        </p:txBody>
      </p:sp>
      <p:sp>
        <p:nvSpPr>
          <p:cNvPr id="12" name="Text 12"/>
          <p:cNvSpPr txBox="1"/>
          <p:nvPr/>
        </p:nvSpPr>
        <p:spPr>
          <a:xfrm>
            <a:off x="550000" y="4900000"/>
            <a:ext cx="11100000" cy="700000"/>
          </a:xfrm>
          <a:prstGeom prst="roundRect">
            <a:avLst/>
          </a:prstGeom>
          <a:solidFill>
            <a:srgbClr val="DDF2F1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173A52"/>
                </a:solidFill>
                <a:latin typeface="Aptos"/>
              </a:rPr>
              <a:t>Code anonymisé · date · source · contradiction · explication rivale · limite d’interprétation</a:t>
            </a:r>
            <a:endParaRPr lang="fr-FR" sz="18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7A8B95"/>
                </a:solidFill>
                <a:latin typeface="Aptos"/>
              </a:rPr>
              <a:t>12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159A9C"/>
                </a:solidFill>
                <a:latin typeface="Aptos"/>
              </a:rPr>
              <a:t>03 · CODAGE ET RIGUEUR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173A52"/>
                </a:solidFill>
                <a:latin typeface="Aptos"/>
              </a:rPr>
              <a:t>Une analyse qualitative contrôlable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60717D"/>
                </a:solidFill>
                <a:latin typeface="Aptos"/>
              </a:rPr>
              <a:t>Les contradictions et les cas négatifs font partie de la preuve.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450000" y="1900000"/>
            <a:ext cx="2400000" cy="205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233746"/>
                </a:solidFill>
                <a:latin typeface="Aptos"/>
              </a:rPr>
              <a:t>Coder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/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Déductif + inductif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Définitions et sources</a:t>
            </a:r>
            <a:endParaRPr lang="fr-FR" sz="1800"/>
          </a:p>
        </p:txBody>
      </p:sp>
      <p:sp>
        <p:nvSpPr>
          <p:cNvPr id="4" name="Text 4"/>
          <p:cNvSpPr txBox="1"/>
          <p:nvPr/>
        </p:nvSpPr>
        <p:spPr>
          <a:xfrm>
            <a:off x="3400000" y="1900000"/>
            <a:ext cx="2400000" cy="2050000"/>
          </a:xfrm>
          <a:prstGeom prst="roundRect">
            <a:avLst/>
          </a:prstGeom>
          <a:solidFill>
            <a:srgbClr val="DDF2F1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233746"/>
                </a:solidFill>
                <a:latin typeface="Aptos"/>
              </a:rPr>
              <a:t>Comparer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/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Intra-cas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Inter-cas</a:t>
            </a:r>
            <a:endParaRPr lang="fr-FR" sz="1800"/>
          </a:p>
        </p:txBody>
      </p:sp>
      <p:sp>
        <p:nvSpPr>
          <p:cNvPr id="5" name="Text 5"/>
          <p:cNvSpPr txBox="1"/>
          <p:nvPr/>
        </p:nvSpPr>
        <p:spPr>
          <a:xfrm>
            <a:off x="6350000" y="1900000"/>
            <a:ext cx="2400000" cy="205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233746"/>
                </a:solidFill>
                <a:latin typeface="Aptos"/>
              </a:rPr>
              <a:t>Confronter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/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Cas négatifs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Explications rivales</a:t>
            </a:r>
            <a:endParaRPr lang="fr-FR" sz="1800"/>
          </a:p>
        </p:txBody>
      </p:sp>
      <p:sp>
        <p:nvSpPr>
          <p:cNvPr id="6" name="Text 6"/>
          <p:cNvSpPr txBox="1"/>
          <p:nvPr/>
        </p:nvSpPr>
        <p:spPr>
          <a:xfrm>
            <a:off x="9300000" y="1900000"/>
            <a:ext cx="2400000" cy="2050000"/>
          </a:xfrm>
          <a:prstGeom prst="roundRect">
            <a:avLst/>
          </a:prstGeom>
          <a:solidFill>
            <a:srgbClr val="DDF2F1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233746"/>
                </a:solidFill>
                <a:latin typeface="Aptos"/>
              </a:rPr>
              <a:t>Tracer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/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Mémos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Décisions datées</a:t>
            </a:r>
            <a:endParaRPr lang="fr-FR" sz="1800"/>
          </a:p>
        </p:txBody>
      </p:sp>
      <p:sp>
        <p:nvSpPr>
          <p:cNvPr id="7" name="Text 7"/>
          <p:cNvSpPr txBox="1"/>
          <p:nvPr/>
        </p:nvSpPr>
        <p:spPr>
          <a:xfrm>
            <a:off x="550000" y="5000000"/>
            <a:ext cx="11100000" cy="850000"/>
          </a:xfrm>
          <a:prstGeom prst="roundRect">
            <a:avLst/>
          </a:prstGeom>
          <a:solidFill>
            <a:srgbClr val="F7EEDB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173A52"/>
                </a:solidFill>
                <a:latin typeface="Aptos"/>
              </a:rPr>
              <a:t>« Non documenté » ne signifie pas automatiquement « absent ». Une convergence de discours ne vaut pas automatiquement corroboration indépendante.</a:t>
            </a:r>
            <a:endParaRPr lang="fr-FR" sz="17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7A8B95"/>
                </a:solidFill>
                <a:latin typeface="Aptos"/>
              </a:rPr>
              <a:t>13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159A9C"/>
                </a:solidFill>
                <a:latin typeface="Aptos"/>
              </a:rPr>
              <a:t>03 · SATURATION ET ARRÊT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173A52"/>
                </a:solidFill>
                <a:latin typeface="Aptos"/>
              </a:rPr>
              <a:t>La cible ne constitue pas le bilan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60717D"/>
                </a:solidFill>
                <a:latin typeface="Aptos"/>
              </a:rPr>
              <a:t>La saturation informationnelle prime sur le quota.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550000" y="1800000"/>
            <a:ext cx="5200000" cy="2800000"/>
          </a:xfrm>
          <a:prstGeom prst="roundRect">
            <a:avLst/>
          </a:prstGeom>
          <a:solidFill>
            <a:srgbClr val="DDF2F1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233746"/>
                </a:solidFill>
                <a:latin typeface="Aptos"/>
              </a:rPr>
              <a:t>À PRÉCISER AVANT LE TERRAIN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/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Informations nouvelles suivies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Cas contradictoires traités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Règle poursuivre / ralentir / arrêter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Écarts au protocole journalisés</a:t>
            </a:r>
            <a:endParaRPr lang="fr-FR" sz="1800"/>
          </a:p>
        </p:txBody>
      </p:sp>
      <p:sp>
        <p:nvSpPr>
          <p:cNvPr id="4" name="Text 4"/>
          <p:cNvSpPr txBox="1"/>
          <p:nvPr/>
        </p:nvSpPr>
        <p:spPr>
          <a:xfrm>
            <a:off x="6350000" y="1800000"/>
            <a:ext cx="5200000" cy="2800000"/>
          </a:xfrm>
          <a:prstGeom prst="roundRect">
            <a:avLst/>
          </a:prstGeom>
          <a:solidFill>
            <a:srgbClr val="F7EEDB"/>
          </a:solidFill>
          <a:ln w="10000">
            <a:solidFill>
              <a:srgbClr val="C08B2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233746"/>
                </a:solidFill>
                <a:latin typeface="Aptos"/>
              </a:rPr>
              <a:t>CONDITION DE PASSAGE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/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Protocole daté et versionné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A1–A5 reliés au guide et aux grilles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Codebook stabilisé</a:t>
            </a:r>
            <a:endParaRPr lang="fr-FR" sz="1800"/>
          </a:p>
          <a:p>
            <a:r>
              <a:rPr lang="fr-FR" sz="1800" b="1">
                <a:solidFill>
                  <a:srgbClr val="233746"/>
                </a:solidFill>
                <a:latin typeface="Aptos"/>
              </a:rPr>
              <a:t>Pilote de codage réalisé</a:t>
            </a:r>
            <a:endParaRPr lang="fr-FR" sz="1800"/>
          </a:p>
        </p:txBody>
      </p:sp>
      <p:sp>
        <p:nvSpPr>
          <p:cNvPr id="5" name="Text 5"/>
          <p:cNvSpPr txBox="1"/>
          <p:nvPr/>
        </p:nvSpPr>
        <p:spPr>
          <a:xfrm>
            <a:off x="550000" y="5200000"/>
            <a:ext cx="11100000" cy="6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900" b="1">
                <a:solidFill>
                  <a:srgbClr val="173A52"/>
                </a:solidFill>
                <a:latin typeface="Aptos"/>
              </a:rPr>
              <a:t>45 participants = cible de travail, jamais contrat de résultat.</a:t>
            </a:r>
            <a:endParaRPr lang="fr-FR" sz="19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7A8B95"/>
                </a:solidFill>
                <a:latin typeface="Aptos"/>
              </a:rPr>
              <a:t>14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159A9C"/>
                </a:solidFill>
                <a:latin typeface="Aptos"/>
              </a:rPr>
              <a:t>04 · GABARIT DE RÉSULTAT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173A52"/>
                </a:solidFill>
                <a:latin typeface="Aptos"/>
              </a:rPr>
              <a:t>Ce qui sera un résultat après le terrain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60717D"/>
                </a:solidFill>
                <a:latin typeface="Aptos"/>
              </a:rPr>
              <a:t>Ne pas remplir ce gabarit avant collecte.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350000" y="1900000"/>
            <a:ext cx="2000000" cy="2300000"/>
          </a:xfrm>
          <a:prstGeom prst="roundRect">
            <a:avLst/>
          </a:prstGeom>
          <a:solidFill>
            <a:srgbClr val="F7EEDB"/>
          </a:solidFill>
          <a:ln w="10000">
            <a:solidFill>
              <a:srgbClr val="C08B2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600" b="1">
                <a:solidFill>
                  <a:srgbClr val="233746"/>
                </a:solidFill>
                <a:latin typeface="Aptos"/>
              </a:rPr>
              <a:t>1 · Constat</a:t>
            </a:r>
            <a:endParaRPr lang="fr-FR" sz="1600"/>
          </a:p>
          <a:p>
            <a:r>
              <a:rPr lang="fr-FR" sz="1600" b="1">
                <a:solidFill>
                  <a:srgbClr val="233746"/>
                </a:solidFill>
                <a:latin typeface="Aptos"/>
              </a:rPr>
              <a:t/>
            </a:r>
            <a:endParaRPr lang="fr-FR" sz="1600"/>
          </a:p>
          <a:p>
            <a:r>
              <a:rPr lang="fr-FR" sz="1600" b="1">
                <a:solidFill>
                  <a:srgbClr val="233746"/>
                </a:solidFill>
                <a:latin typeface="Aptos"/>
              </a:rPr>
              <a:t>Ce qui est observé</a:t>
            </a:r>
            <a:endParaRPr lang="fr-FR" sz="1600"/>
          </a:p>
        </p:txBody>
      </p:sp>
      <p:sp>
        <p:nvSpPr>
          <p:cNvPr id="4" name="Text 4"/>
          <p:cNvSpPr txBox="1"/>
          <p:nvPr/>
        </p:nvSpPr>
        <p:spPr>
          <a:xfrm>
            <a:off x="2770000" y="1900000"/>
            <a:ext cx="2000000" cy="2300000"/>
          </a:xfrm>
          <a:prstGeom prst="roundRect">
            <a:avLst/>
          </a:prstGeom>
          <a:solidFill>
            <a:srgbClr val="F7EEDB"/>
          </a:solidFill>
          <a:ln w="10000">
            <a:solidFill>
              <a:srgbClr val="C08B2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600" b="1">
                <a:solidFill>
                  <a:srgbClr val="233746"/>
                </a:solidFill>
                <a:latin typeface="Aptos"/>
              </a:rPr>
              <a:t>2 · Périmètre</a:t>
            </a:r>
            <a:endParaRPr lang="fr-FR" sz="1600"/>
          </a:p>
          <a:p>
            <a:r>
              <a:rPr lang="fr-FR" sz="1600" b="1">
                <a:solidFill>
                  <a:srgbClr val="233746"/>
                </a:solidFill>
                <a:latin typeface="Aptos"/>
              </a:rPr>
              <a:t/>
            </a:r>
            <a:endParaRPr lang="fr-FR" sz="1600"/>
          </a:p>
          <a:p>
            <a:r>
              <a:rPr lang="fr-FR" sz="1600" b="1">
                <a:solidFill>
                  <a:srgbClr val="233746"/>
                </a:solidFill>
                <a:latin typeface="Aptos"/>
              </a:rPr>
              <a:t>Cas et conditions</a:t>
            </a:r>
            <a:endParaRPr lang="fr-FR" sz="1600"/>
          </a:p>
        </p:txBody>
      </p:sp>
      <p:sp>
        <p:nvSpPr>
          <p:cNvPr id="5" name="Text 5"/>
          <p:cNvSpPr txBox="1"/>
          <p:nvPr/>
        </p:nvSpPr>
        <p:spPr>
          <a:xfrm>
            <a:off x="5190000" y="1900000"/>
            <a:ext cx="2000000" cy="2300000"/>
          </a:xfrm>
          <a:prstGeom prst="roundRect">
            <a:avLst/>
          </a:prstGeom>
          <a:solidFill>
            <a:srgbClr val="F7EEDB"/>
          </a:solidFill>
          <a:ln w="10000">
            <a:solidFill>
              <a:srgbClr val="C08B2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600" b="1">
                <a:solidFill>
                  <a:srgbClr val="233746"/>
                </a:solidFill>
                <a:latin typeface="Aptos"/>
              </a:rPr>
              <a:t>3 · Matériau</a:t>
            </a:r>
            <a:endParaRPr lang="fr-FR" sz="1600"/>
          </a:p>
          <a:p>
            <a:r>
              <a:rPr lang="fr-FR" sz="1600" b="1">
                <a:solidFill>
                  <a:srgbClr val="233746"/>
                </a:solidFill>
                <a:latin typeface="Aptos"/>
              </a:rPr>
              <a:t/>
            </a:r>
            <a:endParaRPr lang="fr-FR" sz="1600"/>
          </a:p>
          <a:p>
            <a:r>
              <a:rPr lang="fr-FR" sz="1600" b="1">
                <a:solidFill>
                  <a:srgbClr val="233746"/>
                </a:solidFill>
                <a:latin typeface="Aptos"/>
              </a:rPr>
              <a:t>Trace et source</a:t>
            </a:r>
            <a:endParaRPr lang="fr-FR" sz="1600"/>
          </a:p>
        </p:txBody>
      </p:sp>
      <p:sp>
        <p:nvSpPr>
          <p:cNvPr id="6" name="Text 6"/>
          <p:cNvSpPr txBox="1"/>
          <p:nvPr/>
        </p:nvSpPr>
        <p:spPr>
          <a:xfrm>
            <a:off x="7610000" y="1900000"/>
            <a:ext cx="2000000" cy="2300000"/>
          </a:xfrm>
          <a:prstGeom prst="roundRect">
            <a:avLst/>
          </a:prstGeom>
          <a:solidFill>
            <a:srgbClr val="F7EEDB"/>
          </a:solidFill>
          <a:ln w="10000">
            <a:solidFill>
              <a:srgbClr val="C08B2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600" b="1">
                <a:solidFill>
                  <a:srgbClr val="233746"/>
                </a:solidFill>
                <a:latin typeface="Aptos"/>
              </a:rPr>
              <a:t>4 · Contradiction</a:t>
            </a:r>
            <a:endParaRPr lang="fr-FR" sz="1600"/>
          </a:p>
          <a:p>
            <a:r>
              <a:rPr lang="fr-FR" sz="1600" b="1">
                <a:solidFill>
                  <a:srgbClr val="233746"/>
                </a:solidFill>
                <a:latin typeface="Aptos"/>
              </a:rPr>
              <a:t/>
            </a:r>
            <a:endParaRPr lang="fr-FR" sz="1600"/>
          </a:p>
          <a:p>
            <a:r>
              <a:rPr lang="fr-FR" sz="1600" b="1">
                <a:solidFill>
                  <a:srgbClr val="233746"/>
                </a:solidFill>
                <a:latin typeface="Aptos"/>
              </a:rPr>
              <a:t>Limite ou cas rival</a:t>
            </a:r>
            <a:endParaRPr lang="fr-FR" sz="1600"/>
          </a:p>
        </p:txBody>
      </p:sp>
      <p:sp>
        <p:nvSpPr>
          <p:cNvPr id="7" name="Text 7"/>
          <p:cNvSpPr txBox="1"/>
          <p:nvPr/>
        </p:nvSpPr>
        <p:spPr>
          <a:xfrm>
            <a:off x="10030000" y="1900000"/>
            <a:ext cx="2000000" cy="2300000"/>
          </a:xfrm>
          <a:prstGeom prst="roundRect">
            <a:avLst/>
          </a:prstGeom>
          <a:solidFill>
            <a:srgbClr val="F7EEDB"/>
          </a:solidFill>
          <a:ln w="10000">
            <a:solidFill>
              <a:srgbClr val="C08B2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600" b="1">
                <a:solidFill>
                  <a:srgbClr val="233746"/>
                </a:solidFill>
                <a:latin typeface="Aptos"/>
              </a:rPr>
              <a:t>5 · Portée</a:t>
            </a:r>
            <a:endParaRPr lang="fr-FR" sz="1600"/>
          </a:p>
          <a:p>
            <a:r>
              <a:rPr lang="fr-FR" sz="1600" b="1">
                <a:solidFill>
                  <a:srgbClr val="233746"/>
                </a:solidFill>
                <a:latin typeface="Aptos"/>
              </a:rPr>
              <a:t/>
            </a:r>
            <a:endParaRPr lang="fr-FR" sz="1600"/>
          </a:p>
          <a:p>
            <a:r>
              <a:rPr lang="fr-FR" sz="1600" b="1">
                <a:solidFill>
                  <a:srgbClr val="233746"/>
                </a:solidFill>
                <a:latin typeface="Aptos"/>
              </a:rPr>
              <a:t>Ce que l’on peut affirmer</a:t>
            </a:r>
            <a:endParaRPr lang="fr-FR" sz="1600"/>
          </a:p>
        </p:txBody>
      </p:sp>
      <p:sp>
        <p:nvSpPr>
          <p:cNvPr id="8" name="Text 8"/>
          <p:cNvSpPr txBox="1"/>
          <p:nvPr/>
        </p:nvSpPr>
        <p:spPr>
          <a:xfrm>
            <a:off x="550000" y="5200000"/>
            <a:ext cx="11100000" cy="650000"/>
          </a:xfrm>
          <a:prstGeom prst="roundRect">
            <a:avLst/>
          </a:prstGeom>
          <a:solidFill>
            <a:srgbClr val="DDF2F1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173A52"/>
                </a:solidFill>
                <a:latin typeface="Aptos"/>
              </a:rPr>
              <a:t>[Résultat 1] · [Résultat 2] · [Résultat 3] = emplacements de travail, pas conclusions.</a:t>
            </a:r>
            <a:endParaRPr lang="fr-FR" sz="18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7A8B95"/>
                </a:solidFill>
                <a:latin typeface="Aptos"/>
              </a:rPr>
              <a:t>15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159A9C"/>
                </a:solidFill>
                <a:latin typeface="Aptos"/>
              </a:rPr>
              <a:t>04 · SYNTHÈSE INTER-CAS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173A52"/>
                </a:solidFill>
                <a:latin typeface="Aptos"/>
              </a:rPr>
              <a:t>Comparer les cas sans effacer leurs différences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60717D"/>
                </a:solidFill>
                <a:latin typeface="Aptos"/>
              </a:rPr>
              <a:t>Le nombre réel d’établissements étudiés sera renseigné après collecte.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500000" y="1700000"/>
            <a:ext cx="3400000" cy="600000"/>
          </a:xfrm>
          <a:prstGeom prst="roundRect">
            <a:avLst/>
          </a:prstGeom>
          <a:solidFill>
            <a:srgbClr val="173A52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FFFFFF"/>
                </a:solidFill>
                <a:latin typeface="Aptos"/>
              </a:rPr>
              <a:t>DIMENSION</a:t>
            </a:r>
            <a:endParaRPr lang="fr-FR" sz="1700"/>
          </a:p>
        </p:txBody>
      </p:sp>
      <p:sp>
        <p:nvSpPr>
          <p:cNvPr id="4" name="Text 4"/>
          <p:cNvSpPr txBox="1"/>
          <p:nvPr/>
        </p:nvSpPr>
        <p:spPr>
          <a:xfrm>
            <a:off x="3900000" y="1700000"/>
            <a:ext cx="1250000" cy="600000"/>
          </a:xfrm>
          <a:prstGeom prst="roundRect">
            <a:avLst/>
          </a:prstGeom>
          <a:solidFill>
            <a:srgbClr val="173A52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500" b="1">
                <a:solidFill>
                  <a:srgbClr val="FFFFFF"/>
                </a:solidFill>
                <a:latin typeface="Aptos"/>
              </a:rPr>
              <a:t>EPES-A</a:t>
            </a:r>
            <a:endParaRPr lang="fr-FR" sz="1500"/>
          </a:p>
        </p:txBody>
      </p:sp>
      <p:sp>
        <p:nvSpPr>
          <p:cNvPr id="5" name="Text 5"/>
          <p:cNvSpPr txBox="1"/>
          <p:nvPr/>
        </p:nvSpPr>
        <p:spPr>
          <a:xfrm>
            <a:off x="5300000" y="1700000"/>
            <a:ext cx="1250000" cy="600000"/>
          </a:xfrm>
          <a:prstGeom prst="roundRect">
            <a:avLst/>
          </a:prstGeom>
          <a:solidFill>
            <a:srgbClr val="173A52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500" b="1">
                <a:solidFill>
                  <a:srgbClr val="FFFFFF"/>
                </a:solidFill>
                <a:latin typeface="Aptos"/>
              </a:rPr>
              <a:t>EPES-B</a:t>
            </a:r>
            <a:endParaRPr lang="fr-FR" sz="1500"/>
          </a:p>
        </p:txBody>
      </p:sp>
      <p:sp>
        <p:nvSpPr>
          <p:cNvPr id="6" name="Text 6"/>
          <p:cNvSpPr txBox="1"/>
          <p:nvPr/>
        </p:nvSpPr>
        <p:spPr>
          <a:xfrm>
            <a:off x="6700000" y="1700000"/>
            <a:ext cx="1250000" cy="600000"/>
          </a:xfrm>
          <a:prstGeom prst="roundRect">
            <a:avLst/>
          </a:prstGeom>
          <a:solidFill>
            <a:srgbClr val="173A52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500" b="1">
                <a:solidFill>
                  <a:srgbClr val="FFFFFF"/>
                </a:solidFill>
                <a:latin typeface="Aptos"/>
              </a:rPr>
              <a:t>EPES-C</a:t>
            </a:r>
            <a:endParaRPr lang="fr-FR" sz="1500"/>
          </a:p>
        </p:txBody>
      </p:sp>
      <p:sp>
        <p:nvSpPr>
          <p:cNvPr id="7" name="Text 7"/>
          <p:cNvSpPr txBox="1"/>
          <p:nvPr/>
        </p:nvSpPr>
        <p:spPr>
          <a:xfrm>
            <a:off x="8100000" y="1700000"/>
            <a:ext cx="1250000" cy="600000"/>
          </a:xfrm>
          <a:prstGeom prst="roundRect">
            <a:avLst/>
          </a:prstGeom>
          <a:solidFill>
            <a:srgbClr val="173A52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500" b="1">
                <a:solidFill>
                  <a:srgbClr val="FFFFFF"/>
                </a:solidFill>
                <a:latin typeface="Aptos"/>
              </a:rPr>
              <a:t>EPES-D</a:t>
            </a:r>
            <a:endParaRPr lang="fr-FR" sz="1500"/>
          </a:p>
        </p:txBody>
      </p:sp>
      <p:sp>
        <p:nvSpPr>
          <p:cNvPr id="8" name="Text 8"/>
          <p:cNvSpPr txBox="1"/>
          <p:nvPr/>
        </p:nvSpPr>
        <p:spPr>
          <a:xfrm>
            <a:off x="9500000" y="1700000"/>
            <a:ext cx="1250000" cy="600000"/>
          </a:xfrm>
          <a:prstGeom prst="roundRect">
            <a:avLst/>
          </a:prstGeom>
          <a:solidFill>
            <a:srgbClr val="173A52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500" b="1">
                <a:solidFill>
                  <a:srgbClr val="FFFFFF"/>
                </a:solidFill>
                <a:latin typeface="Aptos"/>
              </a:rPr>
              <a:t>EPES-E</a:t>
            </a:r>
            <a:endParaRPr lang="fr-FR" sz="1500"/>
          </a:p>
        </p:txBody>
      </p:sp>
      <p:sp>
        <p:nvSpPr>
          <p:cNvPr id="9" name="Text 9"/>
          <p:cNvSpPr txBox="1"/>
          <p:nvPr/>
        </p:nvSpPr>
        <p:spPr>
          <a:xfrm>
            <a:off x="500000" y="2400000"/>
            <a:ext cx="3400000" cy="500000"/>
          </a:xfrm>
          <a:prstGeom prst="roundRect">
            <a:avLst/>
          </a:prstGeom>
          <a:solidFill>
            <a:srgbClr val="DDF2F1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400" b="1">
                <a:solidFill>
                  <a:srgbClr val="233746"/>
                </a:solidFill>
                <a:latin typeface="Aptos"/>
              </a:rPr>
              <a:t>Tensions et gouvernance</a:t>
            </a:r>
            <a:endParaRPr lang="fr-FR" sz="1400"/>
          </a:p>
        </p:txBody>
      </p:sp>
      <p:sp>
        <p:nvSpPr>
          <p:cNvPr id="10" name="Text 10"/>
          <p:cNvSpPr txBox="1"/>
          <p:nvPr/>
        </p:nvSpPr>
        <p:spPr>
          <a:xfrm>
            <a:off x="3900000" y="240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11" name="Text 11"/>
          <p:cNvSpPr txBox="1"/>
          <p:nvPr/>
        </p:nvSpPr>
        <p:spPr>
          <a:xfrm>
            <a:off x="5300000" y="240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12" name="Text 12"/>
          <p:cNvSpPr txBox="1"/>
          <p:nvPr/>
        </p:nvSpPr>
        <p:spPr>
          <a:xfrm>
            <a:off x="6700000" y="240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13" name="Text 13"/>
          <p:cNvSpPr txBox="1"/>
          <p:nvPr/>
        </p:nvSpPr>
        <p:spPr>
          <a:xfrm>
            <a:off x="8100000" y="240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14" name="Text 14"/>
          <p:cNvSpPr txBox="1"/>
          <p:nvPr/>
        </p:nvSpPr>
        <p:spPr>
          <a:xfrm>
            <a:off x="9500000" y="240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15" name="Text 15"/>
          <p:cNvSpPr txBox="1"/>
          <p:nvPr/>
        </p:nvSpPr>
        <p:spPr>
          <a:xfrm>
            <a:off x="500000" y="3020000"/>
            <a:ext cx="3400000" cy="500000"/>
          </a:xfrm>
          <a:prstGeom prst="roundRect">
            <a:avLst/>
          </a:prstGeom>
          <a:solidFill>
            <a:srgbClr val="DDF2F1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400" b="1">
                <a:solidFill>
                  <a:srgbClr val="233746"/>
                </a:solidFill>
                <a:latin typeface="Aptos"/>
              </a:rPr>
              <a:t>Usages effectifs IA</a:t>
            </a:r>
            <a:endParaRPr lang="fr-FR" sz="1400"/>
          </a:p>
        </p:txBody>
      </p:sp>
      <p:sp>
        <p:nvSpPr>
          <p:cNvPr id="16" name="Text 16"/>
          <p:cNvSpPr txBox="1"/>
          <p:nvPr/>
        </p:nvSpPr>
        <p:spPr>
          <a:xfrm>
            <a:off x="3900000" y="302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17" name="Text 17"/>
          <p:cNvSpPr txBox="1"/>
          <p:nvPr/>
        </p:nvSpPr>
        <p:spPr>
          <a:xfrm>
            <a:off x="5300000" y="302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18" name="Text 18"/>
          <p:cNvSpPr txBox="1"/>
          <p:nvPr/>
        </p:nvSpPr>
        <p:spPr>
          <a:xfrm>
            <a:off x="6700000" y="302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19" name="Text 19"/>
          <p:cNvSpPr txBox="1"/>
          <p:nvPr/>
        </p:nvSpPr>
        <p:spPr>
          <a:xfrm>
            <a:off x="8100000" y="302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20" name="Text 20"/>
          <p:cNvSpPr txBox="1"/>
          <p:nvPr/>
        </p:nvSpPr>
        <p:spPr>
          <a:xfrm>
            <a:off x="9500000" y="302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21" name="Text 21"/>
          <p:cNvSpPr txBox="1"/>
          <p:nvPr/>
        </p:nvSpPr>
        <p:spPr>
          <a:xfrm>
            <a:off x="500000" y="3640000"/>
            <a:ext cx="3400000" cy="500000"/>
          </a:xfrm>
          <a:prstGeom prst="roundRect">
            <a:avLst/>
          </a:prstGeom>
          <a:solidFill>
            <a:srgbClr val="DDF2F1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400" b="1">
                <a:solidFill>
                  <a:srgbClr val="233746"/>
                </a:solidFill>
                <a:latin typeface="Aptos"/>
              </a:rPr>
              <a:t>Pratiques IE</a:t>
            </a:r>
            <a:endParaRPr lang="fr-FR" sz="1400"/>
          </a:p>
        </p:txBody>
      </p:sp>
      <p:sp>
        <p:nvSpPr>
          <p:cNvPr id="22" name="Text 22"/>
          <p:cNvSpPr txBox="1"/>
          <p:nvPr/>
        </p:nvSpPr>
        <p:spPr>
          <a:xfrm>
            <a:off x="3900000" y="364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23" name="Text 23"/>
          <p:cNvSpPr txBox="1"/>
          <p:nvPr/>
        </p:nvSpPr>
        <p:spPr>
          <a:xfrm>
            <a:off x="5300000" y="364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24" name="Text 24"/>
          <p:cNvSpPr txBox="1"/>
          <p:nvPr/>
        </p:nvSpPr>
        <p:spPr>
          <a:xfrm>
            <a:off x="6700000" y="364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25" name="Text 25"/>
          <p:cNvSpPr txBox="1"/>
          <p:nvPr/>
        </p:nvSpPr>
        <p:spPr>
          <a:xfrm>
            <a:off x="8100000" y="364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26" name="Text 26"/>
          <p:cNvSpPr txBox="1"/>
          <p:nvPr/>
        </p:nvSpPr>
        <p:spPr>
          <a:xfrm>
            <a:off x="9500000" y="364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27" name="Text 27"/>
          <p:cNvSpPr txBox="1"/>
          <p:nvPr/>
        </p:nvSpPr>
        <p:spPr>
          <a:xfrm>
            <a:off x="500000" y="4260000"/>
            <a:ext cx="3400000" cy="500000"/>
          </a:xfrm>
          <a:prstGeom prst="roundRect">
            <a:avLst/>
          </a:prstGeom>
          <a:solidFill>
            <a:srgbClr val="DDF2F1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400" b="1">
                <a:solidFill>
                  <a:srgbClr val="233746"/>
                </a:solidFill>
                <a:latin typeface="Aptos"/>
              </a:rPr>
              <a:t>Articulation IA–IE</a:t>
            </a:r>
            <a:endParaRPr lang="fr-FR" sz="1400"/>
          </a:p>
        </p:txBody>
      </p:sp>
      <p:sp>
        <p:nvSpPr>
          <p:cNvPr id="28" name="Text 28"/>
          <p:cNvSpPr txBox="1"/>
          <p:nvPr/>
        </p:nvSpPr>
        <p:spPr>
          <a:xfrm>
            <a:off x="3900000" y="426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29" name="Text 29"/>
          <p:cNvSpPr txBox="1"/>
          <p:nvPr/>
        </p:nvSpPr>
        <p:spPr>
          <a:xfrm>
            <a:off x="5300000" y="426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30" name="Text 30"/>
          <p:cNvSpPr txBox="1"/>
          <p:nvPr/>
        </p:nvSpPr>
        <p:spPr>
          <a:xfrm>
            <a:off x="6700000" y="426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31" name="Text 31"/>
          <p:cNvSpPr txBox="1"/>
          <p:nvPr/>
        </p:nvSpPr>
        <p:spPr>
          <a:xfrm>
            <a:off x="8100000" y="426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32" name="Text 32"/>
          <p:cNvSpPr txBox="1"/>
          <p:nvPr/>
        </p:nvSpPr>
        <p:spPr>
          <a:xfrm>
            <a:off x="9500000" y="426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33" name="Text 33"/>
          <p:cNvSpPr txBox="1"/>
          <p:nvPr/>
        </p:nvSpPr>
        <p:spPr>
          <a:xfrm>
            <a:off x="500000" y="4880000"/>
            <a:ext cx="3400000" cy="500000"/>
          </a:xfrm>
          <a:prstGeom prst="roundRect">
            <a:avLst/>
          </a:prstGeom>
          <a:solidFill>
            <a:srgbClr val="DDF2F1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400" b="1">
                <a:solidFill>
                  <a:srgbClr val="233746"/>
                </a:solidFill>
                <a:latin typeface="Aptos"/>
              </a:rPr>
              <a:t>Conditions · effets · limites</a:t>
            </a:r>
            <a:endParaRPr lang="fr-FR" sz="1400"/>
          </a:p>
        </p:txBody>
      </p:sp>
      <p:sp>
        <p:nvSpPr>
          <p:cNvPr id="34" name="Text 34"/>
          <p:cNvSpPr txBox="1"/>
          <p:nvPr/>
        </p:nvSpPr>
        <p:spPr>
          <a:xfrm>
            <a:off x="3900000" y="488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35" name="Text 35"/>
          <p:cNvSpPr txBox="1"/>
          <p:nvPr/>
        </p:nvSpPr>
        <p:spPr>
          <a:xfrm>
            <a:off x="5300000" y="488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36" name="Text 36"/>
          <p:cNvSpPr txBox="1"/>
          <p:nvPr/>
        </p:nvSpPr>
        <p:spPr>
          <a:xfrm>
            <a:off x="6700000" y="488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37" name="Text 37"/>
          <p:cNvSpPr txBox="1"/>
          <p:nvPr/>
        </p:nvSpPr>
        <p:spPr>
          <a:xfrm>
            <a:off x="8100000" y="488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38" name="Text 38"/>
          <p:cNvSpPr txBox="1"/>
          <p:nvPr/>
        </p:nvSpPr>
        <p:spPr>
          <a:xfrm>
            <a:off x="9500000" y="4880000"/>
            <a:ext cx="1250000" cy="5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200" b="0">
                <a:solidFill>
                  <a:srgbClr val="60717D"/>
                </a:solidFill>
                <a:latin typeface="Aptos"/>
              </a:rPr>
              <a:t>[à renseigner]</a:t>
            </a:r>
            <a:endParaRPr lang="fr-FR" sz="1200"/>
          </a:p>
        </p:txBody>
      </p:sp>
      <p:sp>
        <p:nvSpPr>
          <p:cNvPr id="39" name="Text 39"/>
          <p:cNvSpPr txBox="1"/>
          <p:nvPr/>
        </p:nvSpPr>
        <p:spPr>
          <a:xfrm>
            <a:off x="550000" y="5700000"/>
            <a:ext cx="11100000" cy="500000"/>
          </a:xfrm>
          <a:prstGeom prst="roundRect">
            <a:avLst/>
          </a:prstGeom>
          <a:solidFill>
            <a:srgbClr val="F7EEDB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600" b="1">
                <a:solidFill>
                  <a:srgbClr val="173A52"/>
                </a:solidFill>
                <a:latin typeface="Aptos"/>
              </a:rPr>
              <a:t>Chaque case renvoie à une source. « Non documenté » ne signifie pas « absent ».</a:t>
            </a:r>
            <a:endParaRPr lang="fr-FR" sz="16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7A8B95"/>
                </a:solidFill>
                <a:latin typeface="Aptos"/>
              </a:rPr>
              <a:t>16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159A9C"/>
                </a:solidFill>
                <a:latin typeface="Aptos"/>
              </a:rPr>
              <a:t>05 · CONTRIBUTIONS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173A52"/>
                </a:solidFill>
                <a:latin typeface="Aptos"/>
              </a:rPr>
              <a:t>Nommer la contribution propre de la thèse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60717D"/>
                </a:solidFill>
                <a:latin typeface="Aptos"/>
              </a:rPr>
              <a:t>La contribution dépendra de ce que l’enquête ajoute, précise ou remet en question.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550000" y="1900000"/>
            <a:ext cx="3300000" cy="220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2000" b="1">
                <a:solidFill>
                  <a:srgbClr val="233746"/>
                </a:solidFill>
                <a:latin typeface="Aptos"/>
              </a:rPr>
              <a:t>Conceptuelle</a:t>
            </a:r>
            <a:endParaRPr lang="fr-FR" sz="2000"/>
          </a:p>
          <a:p>
            <a:r>
              <a:rPr lang="fr-FR" sz="2000" b="1">
                <a:solidFill>
                  <a:srgbClr val="233746"/>
                </a:solidFill>
                <a:latin typeface="Aptos"/>
              </a:rPr>
              <a:t/>
            </a:r>
            <a:endParaRPr lang="fr-FR" sz="2000"/>
          </a:p>
          <a:p>
            <a:r>
              <a:rPr lang="fr-FR" sz="2000" b="1">
                <a:solidFill>
                  <a:srgbClr val="233746"/>
                </a:solidFill>
                <a:latin typeface="Aptos"/>
              </a:rPr>
              <a:t>Mécanisme ou frontière</a:t>
            </a:r>
            <a:endParaRPr lang="fr-FR" sz="2000"/>
          </a:p>
          <a:p>
            <a:r>
              <a:rPr lang="fr-FR" sz="2000" b="1">
                <a:solidFill>
                  <a:srgbClr val="233746"/>
                </a:solidFill>
                <a:latin typeface="Aptos"/>
              </a:rPr>
              <a:t>mieux compris</a:t>
            </a:r>
            <a:endParaRPr lang="fr-FR" sz="2000"/>
          </a:p>
        </p:txBody>
      </p:sp>
      <p:sp>
        <p:nvSpPr>
          <p:cNvPr id="4" name="Text 4"/>
          <p:cNvSpPr txBox="1"/>
          <p:nvPr/>
        </p:nvSpPr>
        <p:spPr>
          <a:xfrm>
            <a:off x="4500000" y="1900000"/>
            <a:ext cx="3300000" cy="2200000"/>
          </a:xfrm>
          <a:prstGeom prst="roundRect">
            <a:avLst/>
          </a:prstGeom>
          <a:solidFill>
            <a:srgbClr val="DDF2F1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2000" b="1">
                <a:solidFill>
                  <a:srgbClr val="233746"/>
                </a:solidFill>
                <a:latin typeface="Aptos"/>
              </a:rPr>
              <a:t>Contextuelle</a:t>
            </a:r>
            <a:endParaRPr lang="fr-FR" sz="2000"/>
          </a:p>
          <a:p>
            <a:r>
              <a:rPr lang="fr-FR" sz="2000" b="1">
                <a:solidFill>
                  <a:srgbClr val="233746"/>
                </a:solidFill>
                <a:latin typeface="Aptos"/>
              </a:rPr>
              <a:t/>
            </a:r>
            <a:endParaRPr lang="fr-FR" sz="2000"/>
          </a:p>
          <a:p>
            <a:r>
              <a:rPr lang="fr-FR" sz="2000" b="1">
                <a:solidFill>
                  <a:srgbClr val="233746"/>
                </a:solidFill>
                <a:latin typeface="Aptos"/>
              </a:rPr>
              <a:t>Configuration propre</a:t>
            </a:r>
            <a:endParaRPr lang="fr-FR" sz="2000"/>
          </a:p>
          <a:p>
            <a:r>
              <a:rPr lang="fr-FR" sz="2000" b="1">
                <a:solidFill>
                  <a:srgbClr val="233746"/>
                </a:solidFill>
                <a:latin typeface="Aptos"/>
              </a:rPr>
              <a:t>aux cas étudiés</a:t>
            </a:r>
            <a:endParaRPr lang="fr-FR" sz="2000"/>
          </a:p>
        </p:txBody>
      </p:sp>
      <p:sp>
        <p:nvSpPr>
          <p:cNvPr id="5" name="Text 5"/>
          <p:cNvSpPr txBox="1"/>
          <p:nvPr/>
        </p:nvSpPr>
        <p:spPr>
          <a:xfrm>
            <a:off x="8450000" y="1900000"/>
            <a:ext cx="3300000" cy="2200000"/>
          </a:xfrm>
          <a:prstGeom prst="roundRect">
            <a:avLst/>
          </a:prstGeom>
          <a:solidFill>
            <a:srgbClr val="FFFFFF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2000" b="1">
                <a:solidFill>
                  <a:srgbClr val="233746"/>
                </a:solidFill>
                <a:latin typeface="Aptos"/>
              </a:rPr>
              <a:t>Managériale</a:t>
            </a:r>
            <a:endParaRPr lang="fr-FR" sz="2000"/>
          </a:p>
          <a:p>
            <a:r>
              <a:rPr lang="fr-FR" sz="2000" b="1">
                <a:solidFill>
                  <a:srgbClr val="233746"/>
                </a:solidFill>
                <a:latin typeface="Aptos"/>
              </a:rPr>
              <a:t/>
            </a:r>
            <a:endParaRPr lang="fr-FR" sz="2000"/>
          </a:p>
          <a:p>
            <a:r>
              <a:rPr lang="fr-FR" sz="2000" b="1">
                <a:solidFill>
                  <a:srgbClr val="233746"/>
                </a:solidFill>
                <a:latin typeface="Aptos"/>
              </a:rPr>
              <a:t>Repère d’action</a:t>
            </a:r>
            <a:endParaRPr lang="fr-FR" sz="2000"/>
          </a:p>
          <a:p>
            <a:r>
              <a:rPr lang="fr-FR" sz="2000" b="1">
                <a:solidFill>
                  <a:srgbClr val="233746"/>
                </a:solidFill>
                <a:latin typeface="Aptos"/>
              </a:rPr>
              <a:t>outil proportionné</a:t>
            </a:r>
            <a:endParaRPr lang="fr-FR" sz="2000"/>
          </a:p>
        </p:txBody>
      </p:sp>
      <p:sp>
        <p:nvSpPr>
          <p:cNvPr id="6" name="Text 6"/>
          <p:cNvSpPr txBox="1"/>
          <p:nvPr/>
        </p:nvSpPr>
        <p:spPr>
          <a:xfrm>
            <a:off x="550000" y="5050000"/>
            <a:ext cx="11100000" cy="800000"/>
          </a:xfrm>
          <a:prstGeom prst="roundRect">
            <a:avLst/>
          </a:prstGeom>
          <a:solidFill>
            <a:srgbClr val="F7EEDB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173A52"/>
                </a:solidFill>
                <a:latin typeface="Aptos"/>
              </a:rPr>
              <a:t>Formulation réservée à la conclusion : « Cette recherche montre que [apport], dans les conditions [périmètre], sous les limites [limites]. »</a:t>
            </a:r>
            <a:endParaRPr lang="fr-FR" sz="17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7A8B95"/>
                </a:solidFill>
                <a:latin typeface="Aptos"/>
              </a:rPr>
              <a:t>17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159A9C"/>
                </a:solidFill>
                <a:latin typeface="Aptos"/>
              </a:rPr>
              <a:t>06 · IMPLICATIONS MANAGÉRIALES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173A52"/>
                </a:solidFill>
                <a:latin typeface="Aptos"/>
              </a:rPr>
              <a:t>Recommander seulement après diagnostic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60717D"/>
                </a:solidFill>
                <a:latin typeface="Aptos"/>
              </a:rPr>
              <a:t>Ne pas déployer une technologie pour résoudre un problème organisationnel non établi.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420000" y="1800000"/>
            <a:ext cx="2500000" cy="2700000"/>
          </a:xfrm>
          <a:prstGeom prst="roundRect">
            <a:avLst/>
          </a:prstGeom>
          <a:solidFill>
            <a:srgbClr val="159A9C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FFFFFF"/>
                </a:solidFill>
                <a:latin typeface="Aptos"/>
              </a:rPr>
              <a:t>01</a:t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>Cadrer</a:t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>Finalité · responsabilités</a:t>
            </a:r>
            <a:endParaRPr lang="fr-FR" sz="1700"/>
          </a:p>
        </p:txBody>
      </p:sp>
      <p:sp>
        <p:nvSpPr>
          <p:cNvPr id="4" name="Text 4"/>
          <p:cNvSpPr txBox="1"/>
          <p:nvPr/>
        </p:nvSpPr>
        <p:spPr>
          <a:xfrm>
            <a:off x="3420000" y="1800000"/>
            <a:ext cx="2500000" cy="2700000"/>
          </a:xfrm>
          <a:prstGeom prst="roundRect">
            <a:avLst/>
          </a:prstGeom>
          <a:solidFill>
            <a:srgbClr val="214E68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FFFFFF"/>
                </a:solidFill>
                <a:latin typeface="Aptos"/>
              </a:rPr>
              <a:t>02</a:t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>Essayer</a:t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>Périmètre limité · contrôle humain</a:t>
            </a:r>
            <a:endParaRPr lang="fr-FR" sz="1700"/>
          </a:p>
        </p:txBody>
      </p:sp>
      <p:sp>
        <p:nvSpPr>
          <p:cNvPr id="5" name="Text 5"/>
          <p:cNvSpPr txBox="1"/>
          <p:nvPr/>
        </p:nvSpPr>
        <p:spPr>
          <a:xfrm>
            <a:off x="6420000" y="1800000"/>
            <a:ext cx="2500000" cy="2700000"/>
          </a:xfrm>
          <a:prstGeom prst="roundRect">
            <a:avLst/>
          </a:prstGeom>
          <a:solidFill>
            <a:srgbClr val="159A9C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FFFFFF"/>
                </a:solidFill>
                <a:latin typeface="Aptos"/>
              </a:rPr>
              <a:t>03</a:t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>Évaluer</a:t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>Résultats · coûts · effets</a:t>
            </a:r>
            <a:endParaRPr lang="fr-FR" sz="1700"/>
          </a:p>
        </p:txBody>
      </p:sp>
      <p:sp>
        <p:nvSpPr>
          <p:cNvPr id="6" name="Text 6"/>
          <p:cNvSpPr txBox="1"/>
          <p:nvPr/>
        </p:nvSpPr>
        <p:spPr>
          <a:xfrm>
            <a:off x="9420000" y="1800000"/>
            <a:ext cx="2500000" cy="2700000"/>
          </a:xfrm>
          <a:prstGeom prst="roundRect">
            <a:avLst/>
          </a:prstGeom>
          <a:solidFill>
            <a:srgbClr val="214E68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FFFFFF"/>
                </a:solidFill>
                <a:latin typeface="Aptos"/>
              </a:rPr>
              <a:t>04</a:t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>Décider</a:t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FFFFFF"/>
                </a:solidFill>
                <a:latin typeface="Aptos"/>
              </a:rPr>
              <a:t>Poursuivre · corriger · arrêter</a:t>
            </a:r>
            <a:endParaRPr lang="fr-FR" sz="1700"/>
          </a:p>
        </p:txBody>
      </p:sp>
      <p:sp>
        <p:nvSpPr>
          <p:cNvPr id="7" name="Text 7"/>
          <p:cNvSpPr txBox="1"/>
          <p:nvPr/>
        </p:nvSpPr>
        <p:spPr>
          <a:xfrm>
            <a:off x="550000" y="5100000"/>
            <a:ext cx="11100000" cy="650000"/>
          </a:xfrm>
          <a:prstGeom prst="roundRect">
            <a:avLst/>
          </a:prstGeom>
          <a:solidFill>
            <a:srgbClr val="F7EEDB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173A52"/>
                </a:solidFill>
                <a:latin typeface="Aptos"/>
              </a:rPr>
              <a:t>Toute recommandation future devra renvoyer à un constat, un responsable, des moyens, un indicateur et une échéance.</a:t>
            </a:r>
            <a:endParaRPr lang="fr-FR" sz="17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7A8B95"/>
                </a:solidFill>
                <a:latin typeface="Aptos"/>
              </a:rPr>
              <a:t>18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159A9C"/>
                </a:solidFill>
                <a:latin typeface="Aptos"/>
              </a:rPr>
              <a:t>06 · LIMITES ET PERSPECTIVES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173A52"/>
                </a:solidFill>
                <a:latin typeface="Aptos"/>
              </a:rPr>
              <a:t>Des limites assumées, une portée délimitée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60717D"/>
                </a:solidFill>
                <a:latin typeface="Aptos"/>
              </a:rPr>
              <a:t>La prudence borne la portée ; elle ne remplace pas la démonstration.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550000" y="1500000"/>
            <a:ext cx="5100000" cy="3650000"/>
          </a:xfrm>
          <a:prstGeom prst="roundRect">
            <a:avLst/>
          </a:prstGeom>
          <a:solidFill>
            <a:srgbClr val="F7EEDB"/>
          </a:solidFill>
          <a:ln w="10000">
            <a:solidFill>
              <a:srgbClr val="C08B2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233746"/>
                </a:solidFill>
                <a:latin typeface="Aptos"/>
              </a:rPr>
              <a:t>LIMITES À DOCUMENTER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Accès différencié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Déclarations ≠ pratiques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Temporalité des conséquences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Position du praticien-chercheur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Pas de représentativité statistique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Pas d’effet causal isolé</a:t>
            </a:r>
            <a:endParaRPr lang="fr-FR" sz="1700"/>
          </a:p>
        </p:txBody>
      </p:sp>
      <p:sp>
        <p:nvSpPr>
          <p:cNvPr id="4" name="Text 4"/>
          <p:cNvSpPr txBox="1"/>
          <p:nvPr/>
        </p:nvSpPr>
        <p:spPr>
          <a:xfrm>
            <a:off x="6400000" y="1500000"/>
            <a:ext cx="5200000" cy="3650000"/>
          </a:xfrm>
          <a:prstGeom prst="roundRect">
            <a:avLst/>
          </a:prstGeom>
          <a:solidFill>
            <a:srgbClr val="DDF2F1"/>
          </a:solidFill>
          <a:ln w="10000">
            <a:solidFill>
              <a:srgbClr val="159A9C"/>
            </a:solidFill>
          </a:ln>
        </p:spPr>
        <p:txBody>
          <a:bodyPr wrap="square" lIns="120000" tIns="90000" rIns="120000" bIns="90000" anchor="ctr"/>
          <a:lstStyle/>
          <a:p>
            <a:r>
              <a:rPr lang="fr-FR" sz="1700" b="1">
                <a:solidFill>
                  <a:srgbClr val="233746"/>
                </a:solidFill>
                <a:latin typeface="Aptos"/>
              </a:rPr>
              <a:t>PROLONGEMENTS POSSIBLES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/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Suivre les pratiques dans le temps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Élargir les points de vue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Comparer d’autres contextes</a:t>
            </a:r>
            <a:endParaRPr lang="fr-FR" sz="1700"/>
          </a:p>
          <a:p>
            <a:r>
              <a:rPr lang="fr-FR" sz="1700" b="1">
                <a:solidFill>
                  <a:srgbClr val="233746"/>
                </a:solidFill>
                <a:latin typeface="Aptos"/>
              </a:rPr>
              <a:t>Évaluer les outils proposés</a:t>
            </a:r>
            <a:endParaRPr lang="fr-FR" sz="1700"/>
          </a:p>
        </p:txBody>
      </p:sp>
      <p:sp>
        <p:nvSpPr>
          <p:cNvPr id="5" name="Text 5"/>
          <p:cNvSpPr txBox="1"/>
          <p:nvPr/>
        </p:nvSpPr>
        <p:spPr>
          <a:xfrm>
            <a:off x="550000" y="5400000"/>
            <a:ext cx="11100000" cy="600000"/>
          </a:xfrm>
          <a:prstGeom prst="roundRect">
            <a:avLst/>
          </a:prstGeom>
          <a:solidFill>
            <a:srgbClr val="FFFFFF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1800" b="1">
                <a:solidFill>
                  <a:srgbClr val="173A52"/>
                </a:solidFill>
                <a:latin typeface="Aptos"/>
              </a:rPr>
              <a:t>Conditions de transfert à d’autres contextes : à documenter, pas à supposer.</a:t>
            </a:r>
            <a:endParaRPr lang="fr-FR" sz="18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7A8B95"/>
                </a:solidFill>
                <a:latin typeface="Aptos"/>
              </a:rPr>
              <a:t>19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Text 999"/>
          <p:cNvSpPr txBox="1"/>
          <p:nvPr/>
        </p:nvSpPr>
        <p:spPr>
          <a:xfrm>
            <a:off x="550000" y="330000"/>
            <a:ext cx="10800000" cy="3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100" b="1">
                <a:solidFill>
                  <a:srgbClr val="159A9C"/>
                </a:solidFill>
                <a:latin typeface="Aptos"/>
              </a:rPr>
              <a:t>07 · CONCLUSION</a:t>
            </a:r>
            <a:endParaRPr lang="fr-FR" sz="1100"/>
          </a:p>
        </p:txBody>
      </p:sp>
      <p:sp>
        <p:nvSpPr>
          <p:cNvPr id="999" name="Text 999"/>
          <p:cNvSpPr txBox="1"/>
          <p:nvPr/>
        </p:nvSpPr>
        <p:spPr>
          <a:xfrm>
            <a:off x="550000" y="700000"/>
            <a:ext cx="11100000" cy="7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800" b="1">
                <a:solidFill>
                  <a:srgbClr val="173A52"/>
                </a:solidFill>
                <a:latin typeface="Aptos"/>
              </a:rPr>
              <a:t>Réponse finale : à établir après le terrain</a:t>
            </a:r>
            <a:endParaRPr lang="fr-FR" sz="2800"/>
          </a:p>
        </p:txBody>
      </p:sp>
      <p:sp>
        <p:nvSpPr>
          <p:cNvPr id="999" name="Text 999"/>
          <p:cNvSpPr txBox="1"/>
          <p:nvPr/>
        </p:nvSpPr>
        <p:spPr>
          <a:xfrm>
            <a:off x="550000" y="1270000"/>
            <a:ext cx="11100000" cy="43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500" b="0">
                <a:solidFill>
                  <a:srgbClr val="60717D"/>
                </a:solidFill>
                <a:latin typeface="Aptos"/>
              </a:rPr>
              <a:t>Ce qui est prêt et ce qui reste à faire.</a:t>
            </a:r>
            <a:endParaRPr lang="fr-FR" sz="1500"/>
          </a:p>
        </p:txBody>
      </p:sp>
      <p:sp>
        <p:nvSpPr>
          <p:cNvPr id="3" name="Text 3"/>
          <p:cNvSpPr txBox="1"/>
          <p:nvPr/>
        </p:nvSpPr>
        <p:spPr>
          <a:xfrm>
            <a:off x="650000" y="1550000"/>
            <a:ext cx="4700000" cy="4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000" b="1">
                <a:solidFill>
                  <a:srgbClr val="173A52"/>
                </a:solidFill>
                <a:latin typeface="Aptos"/>
              </a:rPr>
              <a:t>PRÊT POUR DISCUSSION PRÉPARATOIRE</a:t>
            </a:r>
            <a:endParaRPr lang="fr-FR" sz="2000"/>
          </a:p>
        </p:txBody>
      </p:sp>
      <p:sp>
        <p:nvSpPr>
          <p:cNvPr id="4" name="Text 4"/>
          <p:cNvSpPr txBox="1"/>
          <p:nvPr/>
        </p:nvSpPr>
        <p:spPr>
          <a:xfrm>
            <a:off x="650000" y="2150000"/>
            <a:ext cx="4400000" cy="22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800" b="0">
                <a:solidFill>
                  <a:srgbClr val="233746"/>
                </a:solidFill>
                <a:latin typeface="Aptos"/>
              </a:rPr>
              <a:t>Question · périmètre</a:t>
            </a:r>
            <a:endParaRPr lang="fr-FR" sz="1800"/>
          </a:p>
          <a:p>
            <a:r>
              <a:rPr lang="fr-FR" sz="1800" b="0">
                <a:solidFill>
                  <a:srgbClr val="233746"/>
                </a:solidFill>
                <a:latin typeface="Aptos"/>
              </a:rPr>
              <a:t>Définition et frontières</a:t>
            </a:r>
            <a:endParaRPr lang="fr-FR" sz="1800"/>
          </a:p>
          <a:p>
            <a:r>
              <a:rPr lang="fr-FR" sz="1800" b="0">
                <a:solidFill>
                  <a:srgbClr val="233746"/>
                </a:solidFill>
                <a:latin typeface="Aptos"/>
              </a:rPr>
              <a:t>Modèle exploratoire</a:t>
            </a:r>
            <a:endParaRPr lang="fr-FR" sz="1800"/>
          </a:p>
          <a:p>
            <a:r>
              <a:rPr lang="fr-FR" sz="1800" b="0">
                <a:solidFill>
                  <a:srgbClr val="233746"/>
                </a:solidFill>
                <a:latin typeface="Aptos"/>
              </a:rPr>
              <a:t>Protocole prévu</a:t>
            </a:r>
            <a:endParaRPr lang="fr-FR" sz="1800"/>
          </a:p>
          <a:p>
            <a:r>
              <a:rPr lang="fr-FR" sz="1800" b="0">
                <a:solidFill>
                  <a:srgbClr val="233746"/>
                </a:solidFill>
                <a:latin typeface="Aptos"/>
              </a:rPr>
              <a:t>Chaîne de preuves</a:t>
            </a:r>
            <a:endParaRPr lang="fr-FR" sz="1800"/>
          </a:p>
        </p:txBody>
      </p:sp>
      <p:sp>
        <p:nvSpPr>
          <p:cNvPr id="5" name="Text 5"/>
          <p:cNvSpPr txBox="1"/>
          <p:nvPr/>
        </p:nvSpPr>
        <p:spPr>
          <a:xfrm>
            <a:off x="6500000" y="1550000"/>
            <a:ext cx="5000000" cy="4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2000" b="1">
                <a:solidFill>
                  <a:srgbClr val="173A52"/>
                </a:solidFill>
                <a:latin typeface="Aptos"/>
              </a:rPr>
              <a:t>À FAIRE AVANT TOUTE CONCLUSION EMPIRIQUE</a:t>
            </a:r>
            <a:endParaRPr lang="fr-FR" sz="2000"/>
          </a:p>
        </p:txBody>
      </p:sp>
      <p:sp>
        <p:nvSpPr>
          <p:cNvPr id="6" name="Text 6"/>
          <p:cNvSpPr txBox="1"/>
          <p:nvPr/>
        </p:nvSpPr>
        <p:spPr>
          <a:xfrm>
            <a:off x="6500000" y="2150000"/>
            <a:ext cx="4400000" cy="220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r>
              <a:rPr lang="fr-FR" sz="1800" b="0">
                <a:solidFill>
                  <a:srgbClr val="233746"/>
                </a:solidFill>
                <a:latin typeface="Aptos"/>
              </a:rPr>
              <a:t>Verrouiller T2</a:t>
            </a:r>
            <a:endParaRPr lang="fr-FR" sz="1800"/>
          </a:p>
          <a:p>
            <a:r>
              <a:rPr lang="fr-FR" sz="1800" b="0">
                <a:solidFill>
                  <a:srgbClr val="233746"/>
                </a:solidFill>
                <a:latin typeface="Aptos"/>
              </a:rPr>
              <a:t>Piloter le codage</a:t>
            </a:r>
            <a:endParaRPr lang="fr-FR" sz="1800"/>
          </a:p>
          <a:p>
            <a:r>
              <a:rPr lang="fr-FR" sz="1800" b="0">
                <a:solidFill>
                  <a:srgbClr val="233746"/>
                </a:solidFill>
                <a:latin typeface="Aptos"/>
              </a:rPr>
              <a:t>Réaliser le terrain</a:t>
            </a:r>
            <a:endParaRPr lang="fr-FR" sz="1800"/>
          </a:p>
          <a:p>
            <a:r>
              <a:rPr lang="fr-FR" sz="1800" b="0">
                <a:solidFill>
                  <a:srgbClr val="233746"/>
                </a:solidFill>
                <a:latin typeface="Aptos"/>
              </a:rPr>
              <a:t>Analyser et comparer</a:t>
            </a:r>
            <a:endParaRPr lang="fr-FR" sz="1800"/>
          </a:p>
          <a:p>
            <a:r>
              <a:rPr lang="fr-FR" sz="1800" b="0">
                <a:solidFill>
                  <a:srgbClr val="233746"/>
                </a:solidFill>
                <a:latin typeface="Aptos"/>
              </a:rPr>
              <a:t>Établir contribution et limites</a:t>
            </a:r>
            <a:endParaRPr lang="fr-FR" sz="1800"/>
          </a:p>
        </p:txBody>
      </p:sp>
      <p:sp>
        <p:nvSpPr>
          <p:cNvPr id="7" name="Text 7"/>
          <p:cNvSpPr txBox="1"/>
          <p:nvPr/>
        </p:nvSpPr>
        <p:spPr>
          <a:xfrm>
            <a:off x="2100000" y="5100000"/>
            <a:ext cx="7800000" cy="900000"/>
          </a:xfrm>
          <a:prstGeom prst="roundRect">
            <a:avLst/>
          </a:prstGeom>
          <a:solidFill>
            <a:srgbClr val="173A52"/>
          </a:solidFill>
          <a:noFill/>
        </p:spPr>
        <p:txBody>
          <a:bodyPr wrap="square" lIns="120000" tIns="90000" rIns="120000" bIns="90000" anchor="ctr"/>
          <a:lstStyle/>
          <a:p>
            <a:r>
              <a:rPr lang="fr-FR" sz="2200" b="1">
                <a:solidFill>
                  <a:srgbClr val="FFFFFF"/>
                </a:solidFill>
                <a:latin typeface="Aptos"/>
              </a:rPr>
              <a:t>PROCHAIN VERROU : T2</a:t>
            </a:r>
            <a:endParaRPr lang="fr-FR" sz="2200"/>
          </a:p>
          <a:p>
            <a:r>
              <a:rPr lang="fr-FR" sz="2200" b="1">
                <a:solidFill>
                  <a:srgbClr val="FFFFFF"/>
                </a:solidFill>
                <a:latin typeface="Aptos"/>
              </a:rPr>
              <a:t>A1–A5 · guide · grilles · codebook · pilote · saturation</a:t>
            </a:r>
            <a:endParaRPr lang="fr-FR" sz="2200"/>
          </a:p>
        </p:txBody>
      </p:sp>
      <p:sp>
        <p:nvSpPr>
          <p:cNvPr id="8" name="Text 8"/>
          <p:cNvSpPr txBox="1"/>
          <p:nvPr/>
        </p:nvSpPr>
        <p:spPr>
          <a:xfrm>
            <a:off x="3800000" y="6100000"/>
            <a:ext cx="5000000" cy="350000"/>
          </a:xfrm>
          <a:prstGeom prst="rect">
            <a:avLst/>
          </a:prstGeom>
          <a:noFill/>
          <a:noFill/>
        </p:spPr>
        <p:txBody>
          <a:bodyPr wrap="square" lIns="120000" tIns="90000" rIns="120000" bIns="90000" anchor="ctr"/>
          <a:lstStyle/>
          <a:p>
            <a:pPr algn="ctr"/>
            <a:r>
              <a:rPr lang="fr-FR" sz="1700" b="1">
                <a:solidFill>
                  <a:srgbClr val="AA5B4D"/>
                </a:solidFill>
                <a:latin typeface="Aptos"/>
              </a:rPr>
              <a:t>Aucun résultat empirique validé à ce stade.</a:t>
            </a:r>
            <a:endParaRPr lang="fr-FR" sz="1700"/>
          </a:p>
        </p:txBody>
      </p:sp>
      <p:sp>
        <p:nvSpPr>
          <p:cNvPr id="900" name="Footer"/>
          <p:cNvSpPr txBox="1"/>
          <p:nvPr/>
        </p:nvSpPr>
        <p:spPr>
          <a:xfrm>
            <a:off x="550000" y="6450000"/>
            <a:ext cx="11100000" cy="2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algn="r"/>
            <a:r>
              <a:rPr lang="fr-FR" sz="900">
                <a:solidFill>
                  <a:srgbClr val="7A8B95"/>
                </a:solidFill>
                <a:latin typeface="Aptos"/>
              </a:rPr>
              <a:t>20 / 20 · SUPPORT PRÉ-TERRAIN · AUCUN RÉSULTAT EMPIRIQUE</a:t>
            </a:r>
            <a:endParaRPr lang="fr-FR" sz="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ena">
  <a:themeElements>
    <a:clrScheme name="Arena">
      <a:dk1>
        <a:srgbClr val="000000"/>
      </a:dk1>
      <a:lt1>
        <a:srgbClr val="FFFFFF"/>
      </a:lt1>
      <a:dk2>
        <a:srgbClr val="173A52"/>
      </a:dk2>
      <a:lt2>
        <a:srgbClr val="F4F7F8"/>
      </a:lt2>
      <a:accent1>
        <a:srgbClr val="159A9C"/>
      </a:accent1>
      <a:accent2>
        <a:srgbClr val="C08B2C"/>
      </a:accent2>
      <a:accent3>
        <a:srgbClr val="214E68"/>
      </a:accent3>
      <a:accent4>
        <a:srgbClr val="DDF2F1"/>
      </a:accent4>
      <a:accent5>
        <a:srgbClr val="F7EEDB"/>
      </a:accent5>
      <a:accent6>
        <a:srgbClr val="AA5B4D"/>
      </a:accent6>
      <a:hlink>
        <a:srgbClr val="0000FF"/>
      </a:hlink>
      <a:folHlink>
        <a:srgbClr val="800080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Arena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Arena</Application>
  <PresentationFormat>On-screen Show (16:9)</PresentationFormat>
  <Slides>12</Slides>
</Properties>
</file>

<file path=docProps/core.xml><?xml version="1.0" encoding="utf-8"?>
<cp:coreProperties xmlns:cp="http://schemas.openxmlformats.org/package/2006/metadata/core-properties" xmlns:dc="http://purl.org/dc/elements/1.1/">
  <dc:title>Proposition de support de soutenance pré-terrain</dc:title>
  <dc:subject>Gouvernance augmentée des EPES gabonais</dc:subject>
  <dc:creator>Serge Patrick MINANG</dc:creator>
  <cp:keywords>proposition IA, pré-terrain, méthodologie</cp:keywords>
</cp:coreProperties>
</file>