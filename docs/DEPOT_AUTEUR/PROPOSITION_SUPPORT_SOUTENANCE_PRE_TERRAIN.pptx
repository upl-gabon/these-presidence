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/>
    <a:lvl1pPr marL="0" algn="l">
      <a:defRPr lang="fr-FR"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  <p:clrMap accent1="159A9C" accent2="C08B2C" bg1="FFFFFF" bg2="F4F7F8" folHlink="800080" hlink="0000FF" tx1="233746" tx2="60717D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3A52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DDF2F1"/>
                </a:solidFill>
                <a:latin typeface="Aptos"/>
              </a:rPr>
              <a:t>SOUTENANCE DBA · SUPPORT PRÉ-TERRAIN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FFFFFF"/>
                </a:solidFill>
                <a:latin typeface="Aptos"/>
              </a:rPr>
              <a:t>La gouvernance augmentée des EPES gabonais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D7E6EA"/>
                </a:solidFill>
                <a:latin typeface="Aptos"/>
              </a:rPr>
              <a:t>Proposition IA — à valider par l’auteur · terrain non réalisé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520000" y="1150000"/>
            <a:ext cx="6800000" cy="19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3400" b="1">
                <a:solidFill>
                  <a:srgbClr val="FFFFFF"/>
                </a:solidFill>
                <a:latin typeface="Aptos"/>
              </a:rPr>
              <a:t>La gouvernance augmentée</a:t>
            </a:r>
            <a:endParaRPr lang="fr-FR" sz="3400"/>
          </a:p>
          <a:p>
            <a:r>
              <a:rPr lang="fr-FR" sz="3400" b="1">
                <a:solidFill>
                  <a:srgbClr val="FFFFFF"/>
                </a:solidFill>
                <a:latin typeface="Aptos"/>
              </a:rPr>
              <a:t>des EPES gabonais</a:t>
            </a:r>
            <a:endParaRPr lang="fr-FR" sz="3400"/>
          </a:p>
          <a:p>
            <a:r>
              <a:rPr lang="fr-FR" sz="3400" b="1">
                <a:solidFill>
                  <a:srgbClr val="FFFFFF"/>
                </a:solidFill>
                <a:latin typeface="Aptos"/>
              </a:rPr>
              <a:t>en contexte de polycrise</a:t>
            </a:r>
            <a:endParaRPr lang="fr-FR" sz="3400"/>
          </a:p>
        </p:txBody>
      </p:sp>
      <p:sp>
        <p:nvSpPr>
          <p:cNvPr id="4" name="Text 4"/>
          <p:cNvSpPr txBox="1"/>
          <p:nvPr/>
        </p:nvSpPr>
        <p:spPr>
          <a:xfrm>
            <a:off x="560000" y="3400000"/>
            <a:ext cx="6300000" cy="8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000" b="0">
                <a:solidFill>
                  <a:srgbClr val="D7E6EA"/>
                </a:solidFill>
                <a:latin typeface="Aptos"/>
              </a:rPr>
              <a:t>Articulation IA × IE dans les processus de gouvernance</a:t>
            </a:r>
            <a:endParaRPr lang="fr-FR" sz="2000"/>
          </a:p>
          <a:p>
            <a:r>
              <a:rPr lang="fr-FR" sz="2000" b="0">
                <a:solidFill>
                  <a:srgbClr val="D7E6EA"/>
                </a:solidFill>
                <a:latin typeface="Aptos"/>
              </a:rPr>
              <a:t>— résultats à établir après le terrain —</a:t>
            </a:r>
            <a:endParaRPr lang="fr-FR" sz="2000"/>
          </a:p>
        </p:txBody>
      </p:sp>
      <p:sp>
        <p:nvSpPr>
          <p:cNvPr id="5" name="Text 5"/>
          <p:cNvSpPr txBox="1"/>
          <p:nvPr/>
        </p:nvSpPr>
        <p:spPr>
          <a:xfrm>
            <a:off x="560000" y="4850000"/>
            <a:ext cx="3800000" cy="35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100" b="1">
                <a:solidFill>
                  <a:srgbClr val="FFFFFF"/>
                </a:solidFill>
                <a:latin typeface="Aptos"/>
              </a:rPr>
              <a:t>Serge Patrick MINANG</a:t>
            </a:r>
            <a:endParaRPr lang="fr-FR" sz="2100"/>
          </a:p>
        </p:txBody>
      </p:sp>
      <p:sp>
        <p:nvSpPr>
          <p:cNvPr id="6" name="Text 6"/>
          <p:cNvSpPr txBox="1"/>
          <p:nvPr/>
        </p:nvSpPr>
        <p:spPr>
          <a:xfrm>
            <a:off x="8200000" y="1800000"/>
            <a:ext cx="1100000" cy="110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600" b="1">
                <a:solidFill>
                  <a:srgbClr val="FFFFFF"/>
                </a:solidFill>
                <a:latin typeface="Aptos"/>
              </a:rPr>
              <a:t>IA</a:t>
            </a:r>
            <a:endParaRPr lang="fr-FR" sz="2600"/>
          </a:p>
        </p:txBody>
      </p:sp>
      <p:sp>
        <p:nvSpPr>
          <p:cNvPr id="7" name="Text 7"/>
          <p:cNvSpPr txBox="1"/>
          <p:nvPr/>
        </p:nvSpPr>
        <p:spPr>
          <a:xfrm>
            <a:off x="10000000" y="1800000"/>
            <a:ext cx="1100000" cy="1100000"/>
          </a:xfrm>
          <a:prstGeom prst="roundRect">
            <a:avLst/>
          </a:prstGeom>
          <a:solidFill>
            <a:srgbClr val="C08B2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600" b="1">
                <a:solidFill>
                  <a:srgbClr val="FFFFFF"/>
                </a:solidFill>
                <a:latin typeface="Aptos"/>
              </a:rPr>
              <a:t>IE</a:t>
            </a:r>
            <a:endParaRPr lang="fr-FR" sz="2600"/>
          </a:p>
        </p:txBody>
      </p:sp>
      <p:sp>
        <p:nvSpPr>
          <p:cNvPr id="8" name="Text 8"/>
          <p:cNvSpPr txBox="1"/>
          <p:nvPr/>
        </p:nvSpPr>
        <p:spPr>
          <a:xfrm>
            <a:off x="8720000" y="2930000"/>
            <a:ext cx="500000" cy="5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3000" b="1">
                <a:solidFill>
                  <a:srgbClr val="DDF2F1"/>
                </a:solidFill>
                <a:latin typeface="Aptos"/>
              </a:rPr>
              <a:t>↓</a:t>
            </a:r>
            <a:endParaRPr lang="fr-FR" sz="3000"/>
          </a:p>
        </p:txBody>
      </p:sp>
      <p:sp>
        <p:nvSpPr>
          <p:cNvPr id="9" name="Text 9"/>
          <p:cNvSpPr txBox="1"/>
          <p:nvPr/>
        </p:nvSpPr>
        <p:spPr>
          <a:xfrm>
            <a:off x="10480000" y="2930000"/>
            <a:ext cx="500000" cy="5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3000" b="1">
                <a:solidFill>
                  <a:srgbClr val="F7EEDB"/>
                </a:solidFill>
                <a:latin typeface="Aptos"/>
              </a:rPr>
              <a:t>↓</a:t>
            </a:r>
            <a:endParaRPr lang="fr-FR" sz="3000"/>
          </a:p>
        </p:txBody>
      </p:sp>
      <p:sp>
        <p:nvSpPr>
          <p:cNvPr id="10" name="Text 10"/>
          <p:cNvSpPr txBox="1"/>
          <p:nvPr/>
        </p:nvSpPr>
        <p:spPr>
          <a:xfrm>
            <a:off x="8100000" y="3500000"/>
            <a:ext cx="3200000" cy="1150000"/>
          </a:xfrm>
          <a:prstGeom prst="roundRect">
            <a:avLst/>
          </a:prstGeom>
          <a:solidFill>
            <a:srgbClr val="FFFFFF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900" b="1">
                <a:solidFill>
                  <a:srgbClr val="173A52"/>
                </a:solidFill>
                <a:latin typeface="Aptos"/>
              </a:rPr>
              <a:t>GOUVERNANCE</a:t>
            </a:r>
            <a:endParaRPr lang="fr-FR" sz="1900"/>
          </a:p>
          <a:p>
            <a:r>
              <a:rPr lang="fr-FR" sz="1900" b="1">
                <a:solidFill>
                  <a:srgbClr val="173A52"/>
                </a:solidFill>
                <a:latin typeface="Aptos"/>
              </a:rPr>
              <a:t>RESPONSABILITÉ HUMAINE</a:t>
            </a:r>
            <a:endParaRPr lang="fr-FR" sz="1900"/>
          </a:p>
        </p:txBody>
      </p:sp>
      <p:sp>
        <p:nvSpPr>
          <p:cNvPr id="11" name="Text 11"/>
          <p:cNvSpPr txBox="1"/>
          <p:nvPr/>
        </p:nvSpPr>
        <p:spPr>
          <a:xfrm>
            <a:off x="8200000" y="5100000"/>
            <a:ext cx="3000000" cy="5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1600" b="0">
                <a:solidFill>
                  <a:srgbClr val="D7E6EA"/>
                </a:solidFill>
                <a:latin typeface="Aptos"/>
              </a:rPr>
              <a:t>Aucun résultat empirique · aucun effet présupposé</a:t>
            </a:r>
            <a:endParaRPr lang="fr-FR" sz="16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B8C7CE"/>
                </a:solidFill>
                <a:latin typeface="Aptos"/>
              </a:rPr>
              <a:t>01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01 · PROBLÈME MANAGÉRIAL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Le point de départ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Documenter les interactions et les effets de cascade, pas seulement une liste de difficultés.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550000" y="1900000"/>
            <a:ext cx="3300000" cy="230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159A9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800" b="1">
                <a:solidFill>
                  <a:srgbClr val="233746"/>
                </a:solidFill>
                <a:latin typeface="Aptos"/>
              </a:rPr>
              <a:t>Viabilité économique</a:t>
            </a:r>
            <a:endParaRPr lang="fr-FR" sz="1800"/>
          </a:p>
          <a:p>
            <a:r>
              <a:rPr lang="fr-FR" sz="1800" b="1">
                <a:solidFill>
                  <a:srgbClr val="233746"/>
                </a:solidFill>
                <a:latin typeface="Aptos"/>
              </a:rPr>
              <a:t/>
            </a:r>
            <a:endParaRPr lang="fr-FR" sz="1800"/>
          </a:p>
          <a:p>
            <a:r>
              <a:rPr lang="fr-FR" sz="1800" b="1">
                <a:solidFill>
                  <a:srgbClr val="233746"/>
                </a:solidFill>
                <a:latin typeface="Aptos"/>
              </a:rPr>
              <a:t>Financement · continuité · allocation des ressources</a:t>
            </a:r>
            <a:endParaRPr lang="fr-FR" sz="1800"/>
          </a:p>
        </p:txBody>
      </p:sp>
      <p:sp>
        <p:nvSpPr>
          <p:cNvPr id="4" name="Text 4"/>
          <p:cNvSpPr txBox="1"/>
          <p:nvPr/>
        </p:nvSpPr>
        <p:spPr>
          <a:xfrm>
            <a:off x="4500000" y="1900000"/>
            <a:ext cx="3300000" cy="230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159A9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800" b="1">
                <a:solidFill>
                  <a:srgbClr val="233746"/>
                </a:solidFill>
                <a:latin typeface="Aptos"/>
              </a:rPr>
              <a:t>Qualité académique</a:t>
            </a:r>
            <a:endParaRPr lang="fr-FR" sz="1800"/>
          </a:p>
          <a:p>
            <a:r>
              <a:rPr lang="fr-FR" sz="1800" b="1">
                <a:solidFill>
                  <a:srgbClr val="233746"/>
                </a:solidFill>
                <a:latin typeface="Aptos"/>
              </a:rPr>
              <a:t/>
            </a:r>
            <a:endParaRPr lang="fr-FR" sz="1800"/>
          </a:p>
          <a:p>
            <a:r>
              <a:rPr lang="fr-FR" sz="1800" b="1">
                <a:solidFill>
                  <a:srgbClr val="233746"/>
                </a:solidFill>
                <a:latin typeface="Aptos"/>
              </a:rPr>
              <a:t>Exigence académique · organisation · conformité</a:t>
            </a:r>
            <a:endParaRPr lang="fr-FR" sz="1800"/>
          </a:p>
        </p:txBody>
      </p:sp>
      <p:sp>
        <p:nvSpPr>
          <p:cNvPr id="5" name="Text 5"/>
          <p:cNvSpPr txBox="1"/>
          <p:nvPr/>
        </p:nvSpPr>
        <p:spPr>
          <a:xfrm>
            <a:off x="8450000" y="1900000"/>
            <a:ext cx="3300000" cy="230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159A9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800" b="1">
                <a:solidFill>
                  <a:srgbClr val="233746"/>
                </a:solidFill>
                <a:latin typeface="Aptos"/>
              </a:rPr>
              <a:t>Dimensions humaines</a:t>
            </a:r>
            <a:endParaRPr lang="fr-FR" sz="1800"/>
          </a:p>
          <a:p>
            <a:r>
              <a:rPr lang="fr-FR" sz="1800" b="1">
                <a:solidFill>
                  <a:srgbClr val="233746"/>
                </a:solidFill>
                <a:latin typeface="Aptos"/>
              </a:rPr>
              <a:t/>
            </a:r>
            <a:endParaRPr lang="fr-FR" sz="1800"/>
          </a:p>
          <a:p>
            <a:r>
              <a:rPr lang="fr-FR" sz="1800" b="1">
                <a:solidFill>
                  <a:srgbClr val="233746"/>
                </a:solidFill>
                <a:latin typeface="Aptos"/>
              </a:rPr>
              <a:t>Tensions · coopération · équité · participation</a:t>
            </a:r>
            <a:endParaRPr lang="fr-FR" sz="1800"/>
          </a:p>
        </p:txBody>
      </p:sp>
      <p:sp>
        <p:nvSpPr>
          <p:cNvPr id="6" name="Text 6"/>
          <p:cNvSpPr txBox="1"/>
          <p:nvPr/>
        </p:nvSpPr>
        <p:spPr>
          <a:xfrm>
            <a:off x="600000" y="5000000"/>
            <a:ext cx="11100000" cy="650000"/>
          </a:xfrm>
          <a:prstGeom prst="roundRect">
            <a:avLst/>
          </a:prstGeom>
          <a:solidFill>
            <a:srgbClr val="DDF2F1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000" b="1">
                <a:solidFill>
                  <a:srgbClr val="173A52"/>
                </a:solidFill>
                <a:latin typeface="Aptos"/>
              </a:rPr>
              <a:t>Polycrise = contexte à documenter ; elle ne constitue pas à elle seule une explication.</a:t>
            </a:r>
            <a:endParaRPr lang="fr-FR" sz="20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02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01 · QUESTION DE RECHERCHE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Une question centrale, un périmètre maîtrisé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Ni articulation effective ni effets favorables présupposés.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650000" y="1400000"/>
            <a:ext cx="11100000" cy="1300000"/>
          </a:xfrm>
          <a:prstGeom prst="roundRect">
            <a:avLst/>
          </a:prstGeom>
          <a:solidFill>
            <a:srgbClr val="173A52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FFFFFF"/>
                </a:solidFill>
                <a:latin typeface="Aptos"/>
              </a:rPr>
              <a:t>Comment et sous quelles conditions l’IA et l’IE</a:t>
            </a:r>
            <a:endParaRPr lang="fr-FR" sz="2800"/>
          </a:p>
          <a:p>
            <a:r>
              <a:rPr lang="fr-FR" sz="2800" b="1">
                <a:solidFill>
                  <a:srgbClr val="FFFFFF"/>
                </a:solidFill>
                <a:latin typeface="Aptos"/>
              </a:rPr>
              <a:t>s’articulent-elles dans la gouvernance des EPES gabonais ?</a:t>
            </a:r>
            <a:endParaRPr lang="fr-FR" sz="2800"/>
          </a:p>
        </p:txBody>
      </p:sp>
      <p:sp>
        <p:nvSpPr>
          <p:cNvPr id="4" name="Text 4"/>
          <p:cNvSpPr txBox="1"/>
          <p:nvPr/>
        </p:nvSpPr>
        <p:spPr>
          <a:xfrm>
            <a:off x="650000" y="3350000"/>
            <a:ext cx="3200000" cy="145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159A9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233746"/>
                </a:solidFill>
                <a:latin typeface="Aptos"/>
              </a:rPr>
              <a:t>Contexte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Polycrise et contraintes organisationnelles</a:t>
            </a:r>
            <a:endParaRPr lang="fr-FR" sz="1700"/>
          </a:p>
        </p:txBody>
      </p:sp>
      <p:sp>
        <p:nvSpPr>
          <p:cNvPr id="5" name="Text 5"/>
          <p:cNvSpPr txBox="1"/>
          <p:nvPr/>
        </p:nvSpPr>
        <p:spPr>
          <a:xfrm>
            <a:off x="4500000" y="3350000"/>
            <a:ext cx="3200000" cy="1450000"/>
          </a:xfrm>
          <a:prstGeom prst="roundRect">
            <a:avLst/>
          </a:prstGeom>
          <a:solidFill>
            <a:srgbClr val="DDF2F1"/>
          </a:solidFill>
          <a:ln w="10000">
            <a:solidFill>
              <a:srgbClr val="159A9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233746"/>
                </a:solidFill>
                <a:latin typeface="Aptos"/>
              </a:rPr>
              <a:t>Cœur de l’analyse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Processus, arbitrages et responsabilités</a:t>
            </a:r>
            <a:endParaRPr lang="fr-FR" sz="1700"/>
          </a:p>
        </p:txBody>
      </p:sp>
      <p:sp>
        <p:nvSpPr>
          <p:cNvPr id="6" name="Text 6"/>
          <p:cNvSpPr txBox="1"/>
          <p:nvPr/>
        </p:nvSpPr>
        <p:spPr>
          <a:xfrm>
            <a:off x="8350000" y="3350000"/>
            <a:ext cx="3200000" cy="145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159A9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233746"/>
                </a:solidFill>
                <a:latin typeface="Aptos"/>
              </a:rPr>
              <a:t>À examiner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Performance globale, RSE et développement durable</a:t>
            </a:r>
            <a:endParaRPr lang="fr-FR" sz="17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03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02 · POSITIONNEMENT SCIENTIFIQUE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Une contribution à établir, pas un modèle à proclamer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La contribution dépendra de ce que l’enquête ajoute, précise ou remet en question.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650000" y="1800000"/>
            <a:ext cx="3200000" cy="245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08B2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900" b="1">
                <a:solidFill>
                  <a:srgbClr val="233746"/>
                </a:solidFill>
                <a:latin typeface="Aptos"/>
              </a:rPr>
              <a:t>Conceptuelle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/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Mécanisme ou frontière mieux compris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Écart avec les concepts voisins</a:t>
            </a:r>
            <a:endParaRPr lang="fr-FR" sz="1900"/>
          </a:p>
        </p:txBody>
      </p:sp>
      <p:sp>
        <p:nvSpPr>
          <p:cNvPr id="4" name="Text 4"/>
          <p:cNvSpPr txBox="1"/>
          <p:nvPr/>
        </p:nvSpPr>
        <p:spPr>
          <a:xfrm>
            <a:off x="4500000" y="1800000"/>
            <a:ext cx="3200000" cy="2450000"/>
          </a:xfrm>
          <a:prstGeom prst="roundRect">
            <a:avLst/>
          </a:prstGeom>
          <a:solidFill>
            <a:srgbClr val="F7EEDB"/>
          </a:solidFill>
          <a:ln w="10000">
            <a:solidFill>
              <a:srgbClr val="C08B2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900" b="1">
                <a:solidFill>
                  <a:srgbClr val="233746"/>
                </a:solidFill>
                <a:latin typeface="Aptos"/>
              </a:rPr>
              <a:t>Contextuelle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/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Configuration propre aux cas étudiés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Conditions de transfert délimitées</a:t>
            </a:r>
            <a:endParaRPr lang="fr-FR" sz="1900"/>
          </a:p>
        </p:txBody>
      </p:sp>
      <p:sp>
        <p:nvSpPr>
          <p:cNvPr id="5" name="Text 5"/>
          <p:cNvSpPr txBox="1"/>
          <p:nvPr/>
        </p:nvSpPr>
        <p:spPr>
          <a:xfrm>
            <a:off x="8350000" y="1800000"/>
            <a:ext cx="3200000" cy="2450000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C08B2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900" b="1">
                <a:solidFill>
                  <a:srgbClr val="233746"/>
                </a:solidFill>
                <a:latin typeface="Aptos"/>
              </a:rPr>
              <a:t>Managériale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/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Repère d’action proportionné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Outil conditionnel · problème traité</a:t>
            </a:r>
            <a:endParaRPr lang="fr-FR" sz="1900"/>
          </a:p>
        </p:txBody>
      </p:sp>
      <p:sp>
        <p:nvSpPr>
          <p:cNvPr id="6" name="Text 6"/>
          <p:cNvSpPr txBox="1"/>
          <p:nvPr/>
        </p:nvSpPr>
        <p:spPr>
          <a:xfrm>
            <a:off x="650000" y="5100000"/>
            <a:ext cx="11100000" cy="620000"/>
          </a:xfrm>
          <a:prstGeom prst="roundRect">
            <a:avLst/>
          </a:prstGeom>
          <a:solidFill>
            <a:srgbClr val="DDF2F1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900" b="1">
                <a:solidFill>
                  <a:srgbClr val="173A52"/>
                </a:solidFill>
                <a:latin typeface="Aptos"/>
              </a:rPr>
              <a:t>Contribution recherchée : un mécanisme documenté et contextualisé, pas un modèle déclaré supérieur.</a:t>
            </a:r>
            <a:endParaRPr lang="fr-FR" sz="19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04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02 · MODÈLE CONCEPTUEL EXPLORATOIRE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P4 : un mécanisme à éprouver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Les liens représentent des relations à examiner, non une causalité déjà démontrée.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650000" y="2200000"/>
            <a:ext cx="2400000" cy="120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000" b="1">
                <a:solidFill>
                  <a:srgbClr val="FFFFFF"/>
                </a:solidFill>
                <a:latin typeface="Aptos"/>
              </a:rPr>
              <a:t>IA</a:t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>Informer · anticiper</a:t>
            </a:r>
            <a:endParaRPr lang="fr-FR" sz="2000"/>
          </a:p>
        </p:txBody>
      </p:sp>
      <p:sp>
        <p:nvSpPr>
          <p:cNvPr id="4" name="Text 4"/>
          <p:cNvSpPr txBox="1"/>
          <p:nvPr/>
        </p:nvSpPr>
        <p:spPr>
          <a:xfrm>
            <a:off x="4300000" y="2200000"/>
            <a:ext cx="3200000" cy="1200000"/>
          </a:xfrm>
          <a:prstGeom prst="roundRect">
            <a:avLst/>
          </a:prstGeom>
          <a:solidFill>
            <a:srgbClr val="173A52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000" b="1">
                <a:solidFill>
                  <a:srgbClr val="FFFFFF"/>
                </a:solidFill>
                <a:latin typeface="Aptos"/>
              </a:rPr>
              <a:t>DÉLIBÉRATION</a:t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>Confronter · contextualiser</a:t>
            </a:r>
            <a:endParaRPr lang="fr-FR" sz="2000"/>
          </a:p>
        </p:txBody>
      </p:sp>
      <p:sp>
        <p:nvSpPr>
          <p:cNvPr id="5" name="Text 5"/>
          <p:cNvSpPr txBox="1"/>
          <p:nvPr/>
        </p:nvSpPr>
        <p:spPr>
          <a:xfrm>
            <a:off x="650000" y="4100000"/>
            <a:ext cx="2400000" cy="1200000"/>
          </a:xfrm>
          <a:prstGeom prst="roundRect">
            <a:avLst/>
          </a:prstGeom>
          <a:solidFill>
            <a:srgbClr val="C08B2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000" b="1">
                <a:solidFill>
                  <a:srgbClr val="FFFFFF"/>
                </a:solidFill>
                <a:latin typeface="Aptos"/>
              </a:rPr>
              <a:t>IE</a:t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>Percevoir · réguler</a:t>
            </a:r>
            <a:endParaRPr lang="fr-FR" sz="2000"/>
          </a:p>
        </p:txBody>
      </p:sp>
      <p:sp>
        <p:nvSpPr>
          <p:cNvPr id="6" name="Text 6"/>
          <p:cNvSpPr txBox="1"/>
          <p:nvPr/>
        </p:nvSpPr>
        <p:spPr>
          <a:xfrm>
            <a:off x="4300000" y="4100000"/>
            <a:ext cx="3200000" cy="1200000"/>
          </a:xfrm>
          <a:prstGeom prst="roundRect">
            <a:avLst/>
          </a:prstGeom>
          <a:solidFill>
            <a:srgbClr val="173A52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000" b="1">
                <a:solidFill>
                  <a:srgbClr val="FFFFFF"/>
                </a:solidFill>
                <a:latin typeface="Aptos"/>
              </a:rPr>
              <a:t>JUGEMENT HUMAIN</a:t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>Arbitrer · justifier · répondre</a:t>
            </a:r>
            <a:endParaRPr lang="fr-FR" sz="2000"/>
          </a:p>
        </p:txBody>
      </p:sp>
      <p:sp>
        <p:nvSpPr>
          <p:cNvPr id="7" name="Text 7"/>
          <p:cNvSpPr txBox="1"/>
          <p:nvPr/>
        </p:nvSpPr>
        <p:spPr>
          <a:xfrm>
            <a:off x="3250000" y="2500000"/>
            <a:ext cx="700000" cy="6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3000" b="1">
                <a:solidFill>
                  <a:srgbClr val="159A9C"/>
                </a:solidFill>
                <a:latin typeface="Aptos"/>
              </a:rPr>
              <a:t>→</a:t>
            </a:r>
            <a:endParaRPr lang="fr-FR" sz="3000"/>
          </a:p>
        </p:txBody>
      </p:sp>
      <p:sp>
        <p:nvSpPr>
          <p:cNvPr id="8" name="Text 8"/>
          <p:cNvSpPr txBox="1"/>
          <p:nvPr/>
        </p:nvSpPr>
        <p:spPr>
          <a:xfrm>
            <a:off x="3250000" y="4400000"/>
            <a:ext cx="700000" cy="6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3000" b="1">
                <a:solidFill>
                  <a:srgbClr val="C08B2C"/>
                </a:solidFill>
                <a:latin typeface="Aptos"/>
              </a:rPr>
              <a:t>→</a:t>
            </a:r>
            <a:endParaRPr lang="fr-FR" sz="3000"/>
          </a:p>
        </p:txBody>
      </p:sp>
      <p:sp>
        <p:nvSpPr>
          <p:cNvPr id="9" name="Text 9"/>
          <p:cNvSpPr txBox="1"/>
          <p:nvPr/>
        </p:nvSpPr>
        <p:spPr>
          <a:xfrm>
            <a:off x="8200000" y="3000000"/>
            <a:ext cx="3000000" cy="160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200" b="1">
                <a:solidFill>
                  <a:srgbClr val="FFFFFF"/>
                </a:solidFill>
                <a:latin typeface="Aptos"/>
              </a:rPr>
              <a:t>Décision et responsabilité</a:t>
            </a:r>
            <a:endParaRPr lang="fr-FR" sz="2200"/>
          </a:p>
          <a:p>
            <a:r>
              <a:rPr lang="fr-FR" sz="2200" b="1">
                <a:solidFill>
                  <a:srgbClr val="FFFFFF"/>
                </a:solidFill>
                <a:latin typeface="Aptos"/>
              </a:rPr>
              <a:t>restent humaines</a:t>
            </a:r>
            <a:endParaRPr lang="fr-FR" sz="2200"/>
          </a:p>
        </p:txBody>
      </p:sp>
      <p:sp>
        <p:nvSpPr>
          <p:cNvPr id="10" name="Text 10"/>
          <p:cNvSpPr txBox="1"/>
          <p:nvPr/>
        </p:nvSpPr>
        <p:spPr>
          <a:xfrm>
            <a:off x="8200000" y="4950000"/>
            <a:ext cx="3000000" cy="900000"/>
          </a:xfrm>
          <a:prstGeom prst="roundRect">
            <a:avLst/>
          </a:prstGeom>
          <a:solidFill>
            <a:srgbClr val="F7EEDB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600" b="1">
                <a:solidFill>
                  <a:srgbClr val="173A52"/>
                </a:solidFill>
                <a:latin typeface="Aptos"/>
              </a:rPr>
              <a:t>STATUT : PROPOSITION À ÉPROUVER</a:t>
            </a:r>
            <a:endParaRPr lang="fr-FR" sz="1600"/>
          </a:p>
          <a:p>
            <a:r>
              <a:rPr lang="fr-FR" sz="1600" b="1">
                <a:solidFill>
                  <a:srgbClr val="173A52"/>
                </a:solidFill>
                <a:latin typeface="Aptos"/>
              </a:rPr>
              <a:t>P4 n’est pas une conclusion anticipée.</a:t>
            </a:r>
            <a:endParaRPr lang="fr-FR" sz="16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05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02 · CRITÈRES D’OBSERVATION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Observer plutôt que déclarer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Les attributs A1–A5 seront reliés à des indices, des sources et des marqueurs datés.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420000" y="2000000"/>
            <a:ext cx="2000000" cy="220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FFFFFF"/>
                </a:solidFill>
                <a:latin typeface="Aptos"/>
              </a:rPr>
              <a:t>A1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Usage effectif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de l’IA</a:t>
            </a:r>
            <a:endParaRPr lang="fr-FR" sz="1700"/>
          </a:p>
        </p:txBody>
      </p:sp>
      <p:sp>
        <p:nvSpPr>
          <p:cNvPr id="4" name="Text 4"/>
          <p:cNvSpPr txBox="1"/>
          <p:nvPr/>
        </p:nvSpPr>
        <p:spPr>
          <a:xfrm>
            <a:off x="2840000" y="2000000"/>
            <a:ext cx="2000000" cy="2200000"/>
          </a:xfrm>
          <a:prstGeom prst="roundRect">
            <a:avLst/>
          </a:prstGeom>
          <a:solidFill>
            <a:srgbClr val="214E68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FFFFFF"/>
                </a:solidFill>
                <a:latin typeface="Aptos"/>
              </a:rPr>
              <a:t>A2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Dernier mot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humain</a:t>
            </a:r>
            <a:endParaRPr lang="fr-FR" sz="1700"/>
          </a:p>
        </p:txBody>
      </p:sp>
      <p:sp>
        <p:nvSpPr>
          <p:cNvPr id="5" name="Text 5"/>
          <p:cNvSpPr txBox="1"/>
          <p:nvPr/>
        </p:nvSpPr>
        <p:spPr>
          <a:xfrm>
            <a:off x="5260000" y="2000000"/>
            <a:ext cx="2000000" cy="2200000"/>
          </a:xfrm>
          <a:prstGeom prst="roundRect">
            <a:avLst/>
          </a:prstGeom>
          <a:solidFill>
            <a:srgbClr val="C08B2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FFFFFF"/>
                </a:solidFill>
                <a:latin typeface="Aptos"/>
              </a:rPr>
              <a:t>A3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Dimension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émotionnelle</a:t>
            </a:r>
            <a:endParaRPr lang="fr-FR" sz="1700"/>
          </a:p>
        </p:txBody>
      </p:sp>
      <p:sp>
        <p:nvSpPr>
          <p:cNvPr id="6" name="Text 6"/>
          <p:cNvSpPr txBox="1"/>
          <p:nvPr/>
        </p:nvSpPr>
        <p:spPr>
          <a:xfrm>
            <a:off x="7680000" y="2000000"/>
            <a:ext cx="2000000" cy="220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FFFFFF"/>
                </a:solidFill>
                <a:latin typeface="Aptos"/>
              </a:rPr>
              <a:t>A4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Orchestration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et apprentissage</a:t>
            </a:r>
            <a:endParaRPr lang="fr-FR" sz="1700"/>
          </a:p>
        </p:txBody>
      </p:sp>
      <p:sp>
        <p:nvSpPr>
          <p:cNvPr id="7" name="Text 7"/>
          <p:cNvSpPr txBox="1"/>
          <p:nvPr/>
        </p:nvSpPr>
        <p:spPr>
          <a:xfrm>
            <a:off x="10100000" y="2000000"/>
            <a:ext cx="2000000" cy="2200000"/>
          </a:xfrm>
          <a:prstGeom prst="roundRect">
            <a:avLst/>
          </a:prstGeom>
          <a:solidFill>
            <a:srgbClr val="214E68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FFFFFF"/>
                </a:solidFill>
                <a:latin typeface="Aptos"/>
              </a:rPr>
              <a:t>A5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Garde-fous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et responsabilité</a:t>
            </a:r>
            <a:endParaRPr lang="fr-FR" sz="1700"/>
          </a:p>
        </p:txBody>
      </p:sp>
      <p:sp>
        <p:nvSpPr>
          <p:cNvPr id="8" name="Text 8"/>
          <p:cNvSpPr txBox="1"/>
          <p:nvPr/>
        </p:nvSpPr>
        <p:spPr>
          <a:xfrm>
            <a:off x="550000" y="5050000"/>
            <a:ext cx="11100000" cy="700000"/>
          </a:xfrm>
          <a:prstGeom prst="roundRect">
            <a:avLst/>
          </a:prstGeom>
          <a:solidFill>
            <a:srgbClr val="DDF2F1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173A52"/>
                </a:solidFill>
                <a:latin typeface="Aptos"/>
              </a:rPr>
              <a:t>Exclusions : E1 pilotage instrumenté · E2 automatisation/numérisation isolée · E3 usage déclaratif ou occasionnel.</a:t>
            </a:r>
            <a:endParaRPr lang="fr-FR" sz="17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06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03 · DÉMARCHE MÉTHODOLOGIQUE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Protocole qualitatif prévu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Dispositif prévu ≠ corpus effectivement analysé.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550000" y="2050000"/>
            <a:ext cx="2350000" cy="205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000" b="1">
                <a:solidFill>
                  <a:srgbClr val="FFFFFF"/>
                </a:solidFill>
                <a:latin typeface="Aptos"/>
              </a:rPr>
              <a:t>5 EPES</a:t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/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>visés</a:t>
            </a:r>
            <a:endParaRPr lang="fr-FR" sz="2000"/>
          </a:p>
        </p:txBody>
      </p:sp>
      <p:sp>
        <p:nvSpPr>
          <p:cNvPr id="4" name="Text 4"/>
          <p:cNvSpPr txBox="1"/>
          <p:nvPr/>
        </p:nvSpPr>
        <p:spPr>
          <a:xfrm>
            <a:off x="3400000" y="2050000"/>
            <a:ext cx="2350000" cy="205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000" b="1">
                <a:solidFill>
                  <a:srgbClr val="FFFFFF"/>
                </a:solidFill>
                <a:latin typeface="Aptos"/>
              </a:rPr>
              <a:t>45</a:t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/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>participants visés</a:t>
            </a:r>
            <a:endParaRPr lang="fr-FR" sz="2000"/>
          </a:p>
        </p:txBody>
      </p:sp>
      <p:sp>
        <p:nvSpPr>
          <p:cNvPr id="5" name="Text 5"/>
          <p:cNvSpPr txBox="1"/>
          <p:nvPr/>
        </p:nvSpPr>
        <p:spPr>
          <a:xfrm>
            <a:off x="6250000" y="2050000"/>
            <a:ext cx="2350000" cy="2050000"/>
          </a:xfrm>
          <a:prstGeom prst="roundRect">
            <a:avLst/>
          </a:prstGeom>
          <a:solidFill>
            <a:srgbClr val="214E68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000" b="1">
                <a:solidFill>
                  <a:srgbClr val="FFFFFF"/>
                </a:solidFill>
                <a:latin typeface="Aptos"/>
              </a:rPr>
              <a:t>E · O · D</a:t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/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>entretiens · observations · documents</a:t>
            </a:r>
            <a:endParaRPr lang="fr-FR" sz="2000"/>
          </a:p>
        </p:txBody>
      </p:sp>
      <p:sp>
        <p:nvSpPr>
          <p:cNvPr id="6" name="Text 6"/>
          <p:cNvSpPr txBox="1"/>
          <p:nvPr/>
        </p:nvSpPr>
        <p:spPr>
          <a:xfrm>
            <a:off x="9100000" y="2050000"/>
            <a:ext cx="2350000" cy="2050000"/>
          </a:xfrm>
          <a:prstGeom prst="roundRect">
            <a:avLst/>
          </a:prstGeom>
          <a:solidFill>
            <a:srgbClr val="214E68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000" b="1">
                <a:solidFill>
                  <a:srgbClr val="FFFFFF"/>
                </a:solidFill>
                <a:latin typeface="Aptos"/>
              </a:rPr>
              <a:t>Scène</a:t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/>
            </a:r>
            <a:endParaRPr lang="fr-FR" sz="2000"/>
          </a:p>
          <a:p>
            <a:r>
              <a:rPr lang="fr-FR" sz="2000" b="1">
                <a:solidFill>
                  <a:srgbClr val="FFFFFF"/>
                </a:solidFill>
                <a:latin typeface="Aptos"/>
              </a:rPr>
              <a:t>unité de décision</a:t>
            </a:r>
            <a:endParaRPr lang="fr-FR" sz="2000"/>
          </a:p>
        </p:txBody>
      </p:sp>
      <p:sp>
        <p:nvSpPr>
          <p:cNvPr id="7" name="Text 7"/>
          <p:cNvSpPr txBox="1"/>
          <p:nvPr/>
        </p:nvSpPr>
        <p:spPr>
          <a:xfrm>
            <a:off x="550000" y="5050000"/>
            <a:ext cx="11100000" cy="700000"/>
          </a:xfrm>
          <a:prstGeom prst="roundRect">
            <a:avLst/>
          </a:prstGeom>
          <a:solidFill>
            <a:srgbClr val="F7EEDB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800" b="1">
                <a:solidFill>
                  <a:srgbClr val="173A52"/>
                </a:solidFill>
                <a:latin typeface="Aptos"/>
              </a:rPr>
              <a:t>À renseigner après collecte : établissements, participants, dates, matériaux et corpus effectivement analysé.</a:t>
            </a:r>
            <a:endParaRPr lang="fr-FR" sz="18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07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03 · ANALYSE ET RIGUEUR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Une chaîne de preuves contrôlable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Chaque futur résultat devra renvoyer à un matériau authentique.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350000" y="2150000"/>
            <a:ext cx="1900000" cy="155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01</a:t>
            </a:r>
            <a:endParaRPr lang="fr-FR" sz="2000"/>
          </a:p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Question</a:t>
            </a:r>
            <a:endParaRPr lang="fr-FR" sz="2000"/>
          </a:p>
        </p:txBody>
      </p:sp>
      <p:sp>
        <p:nvSpPr>
          <p:cNvPr id="4" name="Text 4"/>
          <p:cNvSpPr txBox="1"/>
          <p:nvPr/>
        </p:nvSpPr>
        <p:spPr>
          <a:xfrm>
            <a:off x="2300000" y="2650000"/>
            <a:ext cx="400000" cy="45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2500" b="1">
                <a:solidFill>
                  <a:srgbClr val="C08B2C"/>
                </a:solidFill>
                <a:latin typeface="Aptos"/>
              </a:rPr>
              <a:t>→</a:t>
            </a:r>
            <a:endParaRPr lang="fr-FR" sz="2500"/>
          </a:p>
        </p:txBody>
      </p:sp>
      <p:sp>
        <p:nvSpPr>
          <p:cNvPr id="5" name="Text 5"/>
          <p:cNvSpPr txBox="1"/>
          <p:nvPr/>
        </p:nvSpPr>
        <p:spPr>
          <a:xfrm>
            <a:off x="2770000" y="2150000"/>
            <a:ext cx="1900000" cy="155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02</a:t>
            </a:r>
            <a:endParaRPr lang="fr-FR" sz="2000"/>
          </a:p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Matériau</a:t>
            </a:r>
            <a:endParaRPr lang="fr-FR" sz="2000"/>
          </a:p>
        </p:txBody>
      </p:sp>
      <p:sp>
        <p:nvSpPr>
          <p:cNvPr id="6" name="Text 6"/>
          <p:cNvSpPr txBox="1"/>
          <p:nvPr/>
        </p:nvSpPr>
        <p:spPr>
          <a:xfrm>
            <a:off x="4720000" y="2650000"/>
            <a:ext cx="400000" cy="45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2500" b="1">
                <a:solidFill>
                  <a:srgbClr val="C08B2C"/>
                </a:solidFill>
                <a:latin typeface="Aptos"/>
              </a:rPr>
              <a:t>→</a:t>
            </a:r>
            <a:endParaRPr lang="fr-FR" sz="2500"/>
          </a:p>
        </p:txBody>
      </p:sp>
      <p:sp>
        <p:nvSpPr>
          <p:cNvPr id="7" name="Text 7"/>
          <p:cNvSpPr txBox="1"/>
          <p:nvPr/>
        </p:nvSpPr>
        <p:spPr>
          <a:xfrm>
            <a:off x="5190000" y="2150000"/>
            <a:ext cx="1900000" cy="1550000"/>
          </a:xfrm>
          <a:prstGeom prst="roundRect">
            <a:avLst/>
          </a:prstGeom>
          <a:solidFill>
            <a:srgbClr val="214E68"/>
          </a:solidFill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03</a:t>
            </a:r>
            <a:endParaRPr lang="fr-FR" sz="2000"/>
          </a:p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Codage</a:t>
            </a:r>
            <a:endParaRPr lang="fr-FR" sz="2000"/>
          </a:p>
        </p:txBody>
      </p:sp>
      <p:sp>
        <p:nvSpPr>
          <p:cNvPr id="8" name="Text 8"/>
          <p:cNvSpPr txBox="1"/>
          <p:nvPr/>
        </p:nvSpPr>
        <p:spPr>
          <a:xfrm>
            <a:off x="7140000" y="2650000"/>
            <a:ext cx="400000" cy="45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2500" b="1">
                <a:solidFill>
                  <a:srgbClr val="C08B2C"/>
                </a:solidFill>
                <a:latin typeface="Aptos"/>
              </a:rPr>
              <a:t>→</a:t>
            </a:r>
            <a:endParaRPr lang="fr-FR" sz="2500"/>
          </a:p>
        </p:txBody>
      </p:sp>
      <p:sp>
        <p:nvSpPr>
          <p:cNvPr id="9" name="Text 9"/>
          <p:cNvSpPr txBox="1"/>
          <p:nvPr/>
        </p:nvSpPr>
        <p:spPr>
          <a:xfrm>
            <a:off x="7610000" y="2150000"/>
            <a:ext cx="1900000" cy="1550000"/>
          </a:xfrm>
          <a:prstGeom prst="roundRect">
            <a:avLst/>
          </a:prstGeom>
          <a:solidFill>
            <a:srgbClr val="214E68"/>
          </a:solidFill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04</a:t>
            </a:r>
            <a:endParaRPr lang="fr-FR" sz="2000"/>
          </a:p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Comparaison</a:t>
            </a:r>
            <a:endParaRPr lang="fr-FR" sz="2000"/>
          </a:p>
        </p:txBody>
      </p:sp>
      <p:sp>
        <p:nvSpPr>
          <p:cNvPr id="10" name="Text 10"/>
          <p:cNvSpPr txBox="1"/>
          <p:nvPr/>
        </p:nvSpPr>
        <p:spPr>
          <a:xfrm>
            <a:off x="9560000" y="2650000"/>
            <a:ext cx="400000" cy="45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2500" b="1">
                <a:solidFill>
                  <a:srgbClr val="C08B2C"/>
                </a:solidFill>
                <a:latin typeface="Aptos"/>
              </a:rPr>
              <a:t>→</a:t>
            </a:r>
            <a:endParaRPr lang="fr-FR" sz="2500"/>
          </a:p>
        </p:txBody>
      </p:sp>
      <p:sp>
        <p:nvSpPr>
          <p:cNvPr id="11" name="Text 11"/>
          <p:cNvSpPr txBox="1"/>
          <p:nvPr/>
        </p:nvSpPr>
        <p:spPr>
          <a:xfrm>
            <a:off x="10030000" y="2150000"/>
            <a:ext cx="1900000" cy="1550000"/>
          </a:xfrm>
          <a:prstGeom prst="roundRect">
            <a:avLst/>
          </a:prstGeom>
          <a:solidFill>
            <a:srgbClr val="214E68"/>
          </a:solidFill>
          <a:noFill/>
        </p:spPr>
        <p:txBody>
          <a:bodyPr wrap="square" lIns="120000" tIns="90000" rIns="120000" bIns="90000" anchor="ctr"/>
          <a:lstStyle/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05</a:t>
            </a:r>
            <a:endParaRPr lang="fr-FR" sz="2000"/>
          </a:p>
          <a:p>
            <a:pPr algn="ctr"/>
            <a:r>
              <a:rPr lang="fr-FR" sz="2000" b="1">
                <a:solidFill>
                  <a:srgbClr val="FFFFFF"/>
                </a:solidFill>
                <a:latin typeface="Aptos"/>
              </a:rPr>
              <a:t>Interprétation</a:t>
            </a:r>
            <a:endParaRPr lang="fr-FR" sz="2000"/>
          </a:p>
        </p:txBody>
      </p:sp>
      <p:sp>
        <p:nvSpPr>
          <p:cNvPr id="12" name="Text 12"/>
          <p:cNvSpPr txBox="1"/>
          <p:nvPr/>
        </p:nvSpPr>
        <p:spPr>
          <a:xfrm>
            <a:off x="550000" y="4900000"/>
            <a:ext cx="11100000" cy="700000"/>
          </a:xfrm>
          <a:prstGeom prst="roundRect">
            <a:avLst/>
          </a:prstGeom>
          <a:solidFill>
            <a:srgbClr val="DDF2F1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800" b="1">
                <a:solidFill>
                  <a:srgbClr val="173A52"/>
                </a:solidFill>
                <a:latin typeface="Aptos"/>
              </a:rPr>
              <a:t>Code anonymisé · date · source · contradiction · explication rivale · limite d’interprétation</a:t>
            </a:r>
            <a:endParaRPr lang="fr-FR" sz="18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08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04 · RÉSULTATS FUTURS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Les résultats restent à établir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Les cases ne seront remplies qu’après la collecte et l’analyse.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550000" y="1850000"/>
            <a:ext cx="3300000" cy="2500000"/>
          </a:xfrm>
          <a:prstGeom prst="roundRect">
            <a:avLst/>
          </a:prstGeom>
          <a:solidFill>
            <a:srgbClr val="F7EEDB"/>
          </a:solidFill>
          <a:ln w="10000">
            <a:solidFill>
              <a:srgbClr val="C08B2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900" b="1">
                <a:solidFill>
                  <a:srgbClr val="233746"/>
                </a:solidFill>
                <a:latin typeface="Aptos"/>
              </a:rPr>
              <a:t>[Résultat 1]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/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Constat organisationnel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Cas · preuve · périmètre</a:t>
            </a:r>
            <a:endParaRPr lang="fr-FR" sz="1900"/>
          </a:p>
        </p:txBody>
      </p:sp>
      <p:sp>
        <p:nvSpPr>
          <p:cNvPr id="4" name="Text 4"/>
          <p:cNvSpPr txBox="1"/>
          <p:nvPr/>
        </p:nvSpPr>
        <p:spPr>
          <a:xfrm>
            <a:off x="4500000" y="1850000"/>
            <a:ext cx="3300000" cy="2500000"/>
          </a:xfrm>
          <a:prstGeom prst="roundRect">
            <a:avLst/>
          </a:prstGeom>
          <a:solidFill>
            <a:srgbClr val="F7EEDB"/>
          </a:solidFill>
          <a:ln w="10000">
            <a:solidFill>
              <a:srgbClr val="C08B2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900" b="1">
                <a:solidFill>
                  <a:srgbClr val="233746"/>
                </a:solidFill>
                <a:latin typeface="Aptos"/>
              </a:rPr>
              <a:t>[Résultat 2]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/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Processus de décision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Articulation présente, limitée ou non documentée</a:t>
            </a:r>
            <a:endParaRPr lang="fr-FR" sz="1900"/>
          </a:p>
        </p:txBody>
      </p:sp>
      <p:sp>
        <p:nvSpPr>
          <p:cNvPr id="5" name="Text 5"/>
          <p:cNvSpPr txBox="1"/>
          <p:nvPr/>
        </p:nvSpPr>
        <p:spPr>
          <a:xfrm>
            <a:off x="8450000" y="1850000"/>
            <a:ext cx="3300000" cy="2500000"/>
          </a:xfrm>
          <a:prstGeom prst="roundRect">
            <a:avLst/>
          </a:prstGeom>
          <a:solidFill>
            <a:srgbClr val="F7EEDB"/>
          </a:solidFill>
          <a:ln w="10000">
            <a:solidFill>
              <a:srgbClr val="C08B2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900" b="1">
                <a:solidFill>
                  <a:srgbClr val="233746"/>
                </a:solidFill>
                <a:latin typeface="Aptos"/>
              </a:rPr>
              <a:t>[Résultat 3]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/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Conditions et conséquences</a:t>
            </a:r>
            <a:endParaRPr lang="fr-FR" sz="1900"/>
          </a:p>
          <a:p>
            <a:r>
              <a:rPr lang="fr-FR" sz="1900" b="1">
                <a:solidFill>
                  <a:srgbClr val="233746"/>
                </a:solidFill>
                <a:latin typeface="Aptos"/>
              </a:rPr>
              <a:t>Variations · limites · explications rivales</a:t>
            </a:r>
            <a:endParaRPr lang="fr-FR" sz="1900"/>
          </a:p>
        </p:txBody>
      </p:sp>
      <p:sp>
        <p:nvSpPr>
          <p:cNvPr id="6" name="Text 6"/>
          <p:cNvSpPr txBox="1"/>
          <p:nvPr/>
        </p:nvSpPr>
        <p:spPr>
          <a:xfrm>
            <a:off x="550000" y="5050000"/>
            <a:ext cx="11100000" cy="700000"/>
          </a:xfrm>
          <a:prstGeom prst="roundRect">
            <a:avLst/>
          </a:prstGeom>
          <a:solidFill>
            <a:srgbClr val="DDF2F1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900" b="1">
                <a:solidFill>
                  <a:srgbClr val="173A52"/>
                </a:solidFill>
                <a:latin typeface="Aptos"/>
              </a:rPr>
              <a:t>Règle : « non documenté » ne signifie pas automatiquement « absent ».</a:t>
            </a:r>
            <a:endParaRPr lang="fr-FR" sz="19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09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06 · IMPLICATIONS MANAGÉRIALES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Recommander seulement après diagnostic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Aucune recommandation spécifique n’est validée avant les preuves.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420000" y="1800000"/>
            <a:ext cx="2500000" cy="270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FFFFFF"/>
                </a:solidFill>
                <a:latin typeface="Aptos"/>
              </a:rPr>
              <a:t>01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Cadrer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Finalité · responsabilités · données utiles</a:t>
            </a:r>
            <a:endParaRPr lang="fr-FR" sz="1700"/>
          </a:p>
        </p:txBody>
      </p:sp>
      <p:sp>
        <p:nvSpPr>
          <p:cNvPr id="4" name="Text 4"/>
          <p:cNvSpPr txBox="1"/>
          <p:nvPr/>
        </p:nvSpPr>
        <p:spPr>
          <a:xfrm>
            <a:off x="3420000" y="1800000"/>
            <a:ext cx="2500000" cy="2700000"/>
          </a:xfrm>
          <a:prstGeom prst="roundRect">
            <a:avLst/>
          </a:prstGeom>
          <a:solidFill>
            <a:srgbClr val="214E68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FFFFFF"/>
                </a:solidFill>
                <a:latin typeface="Aptos"/>
              </a:rPr>
              <a:t>02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Essayer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Périmètre limité · contrôle humain</a:t>
            </a:r>
            <a:endParaRPr lang="fr-FR" sz="1700"/>
          </a:p>
        </p:txBody>
      </p:sp>
      <p:sp>
        <p:nvSpPr>
          <p:cNvPr id="5" name="Text 5"/>
          <p:cNvSpPr txBox="1"/>
          <p:nvPr/>
        </p:nvSpPr>
        <p:spPr>
          <a:xfrm>
            <a:off x="6420000" y="1800000"/>
            <a:ext cx="2500000" cy="2700000"/>
          </a:xfrm>
          <a:prstGeom prst="roundRect">
            <a:avLst/>
          </a:prstGeom>
          <a:solidFill>
            <a:srgbClr val="159A9C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FFFFFF"/>
                </a:solidFill>
                <a:latin typeface="Aptos"/>
              </a:rPr>
              <a:t>03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Évaluer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Résultats · coûts · effets indésirables</a:t>
            </a:r>
            <a:endParaRPr lang="fr-FR" sz="1700"/>
          </a:p>
        </p:txBody>
      </p:sp>
      <p:sp>
        <p:nvSpPr>
          <p:cNvPr id="6" name="Text 6"/>
          <p:cNvSpPr txBox="1"/>
          <p:nvPr/>
        </p:nvSpPr>
        <p:spPr>
          <a:xfrm>
            <a:off x="9420000" y="1800000"/>
            <a:ext cx="2500000" cy="2700000"/>
          </a:xfrm>
          <a:prstGeom prst="roundRect">
            <a:avLst/>
          </a:prstGeom>
          <a:solidFill>
            <a:srgbClr val="214E68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FFFFFF"/>
                </a:solidFill>
                <a:latin typeface="Aptos"/>
              </a:rPr>
              <a:t>04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Décider</a:t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FFFFFF"/>
                </a:solidFill>
                <a:latin typeface="Aptos"/>
              </a:rPr>
              <a:t>Poursuivre · corriger · arrêter</a:t>
            </a:r>
            <a:endParaRPr lang="fr-FR" sz="1700"/>
          </a:p>
        </p:txBody>
      </p:sp>
      <p:sp>
        <p:nvSpPr>
          <p:cNvPr id="7" name="Text 7"/>
          <p:cNvSpPr txBox="1"/>
          <p:nvPr/>
        </p:nvSpPr>
        <p:spPr>
          <a:xfrm>
            <a:off x="550000" y="5100000"/>
            <a:ext cx="11100000" cy="650000"/>
          </a:xfrm>
          <a:prstGeom prst="roundRect">
            <a:avLst/>
          </a:prstGeom>
          <a:solidFill>
            <a:srgbClr val="F7EEDB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800" b="1">
                <a:solidFill>
                  <a:srgbClr val="173A52"/>
                </a:solidFill>
                <a:latin typeface="Aptos"/>
              </a:rPr>
              <a:t>Option conditionnelle : chaque action devra renvoyer à un constat, un responsable, des moyens et un suivi.</a:t>
            </a:r>
            <a:endParaRPr lang="fr-FR" sz="18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10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06 · LIMITES ET PERSPECTIVES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Limites et conditions de passage au terrain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La prudence borne la portée ; elle ne remplace pas la démonstration.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550000" y="1450000"/>
            <a:ext cx="5100000" cy="3750000"/>
          </a:xfrm>
          <a:prstGeom prst="roundRect">
            <a:avLst/>
          </a:prstGeom>
          <a:solidFill>
            <a:srgbClr val="F7EEDB"/>
          </a:solidFill>
          <a:ln w="10000">
            <a:solidFill>
              <a:srgbClr val="C08B2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233746"/>
                </a:solidFill>
                <a:latin typeface="Aptos"/>
              </a:rPr>
              <a:t>LIMITES À DOCUMENTER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Accès différencié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Déclarations ≠ pratiques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Temporalité des conséquences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Position du praticien-chercheur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Pas de représentativité statistique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Pas d’effet causal isolé</a:t>
            </a:r>
            <a:endParaRPr lang="fr-FR" sz="1700"/>
          </a:p>
        </p:txBody>
      </p:sp>
      <p:sp>
        <p:nvSpPr>
          <p:cNvPr id="4" name="Text 4"/>
          <p:cNvSpPr txBox="1"/>
          <p:nvPr/>
        </p:nvSpPr>
        <p:spPr>
          <a:xfrm>
            <a:off x="6400000" y="1450000"/>
            <a:ext cx="5200000" cy="3750000"/>
          </a:xfrm>
          <a:prstGeom prst="roundRect">
            <a:avLst/>
          </a:prstGeom>
          <a:solidFill>
            <a:srgbClr val="DDF2F1"/>
          </a:solidFill>
          <a:ln w="10000">
            <a:solidFill>
              <a:srgbClr val="159A9C"/>
            </a:solidFill>
          </a:ln>
        </p:spPr>
        <p:txBody>
          <a:bodyPr wrap="square" lIns="120000" tIns="90000" rIns="120000" bIns="90000" anchor="ctr"/>
          <a:lstStyle/>
          <a:p>
            <a:r>
              <a:rPr lang="fr-FR" sz="1700" b="1">
                <a:solidFill>
                  <a:srgbClr val="233746"/>
                </a:solidFill>
                <a:latin typeface="Aptos"/>
              </a:rPr>
              <a:t>AVANT LA COLLECTE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/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☐ Protocole daté et versionné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☐ A1–A5 reliés au guide et aux grilles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☐ Codebook stabilisé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☐ Pilote de codage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☐ Règle de saturation</a:t>
            </a:r>
            <a:endParaRPr lang="fr-FR" sz="1700"/>
          </a:p>
          <a:p>
            <a:r>
              <a:rPr lang="fr-FR" sz="1700" b="1">
                <a:solidFill>
                  <a:srgbClr val="233746"/>
                </a:solidFill>
                <a:latin typeface="Aptos"/>
              </a:rPr>
              <a:t>☐ Écarts journalisés</a:t>
            </a:r>
            <a:endParaRPr lang="fr-FR" sz="1700"/>
          </a:p>
        </p:txBody>
      </p:sp>
      <p:sp>
        <p:nvSpPr>
          <p:cNvPr id="5" name="Text 5"/>
          <p:cNvSpPr txBox="1"/>
          <p:nvPr/>
        </p:nvSpPr>
        <p:spPr>
          <a:xfrm>
            <a:off x="550000" y="5500000"/>
            <a:ext cx="11100000" cy="600000"/>
          </a:xfrm>
          <a:prstGeom prst="roundRect">
            <a:avLst/>
          </a:prstGeom>
          <a:solidFill>
            <a:srgbClr val="FFFFFF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1800" b="1">
                <a:solidFill>
                  <a:srgbClr val="173A52"/>
                </a:solidFill>
                <a:latin typeface="Aptos"/>
              </a:rPr>
              <a:t>Terrain non réalisé : aucune conclusion empirique à annoncer.</a:t>
            </a:r>
            <a:endParaRPr lang="fr-FR" sz="18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11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9" name="Text 999"/>
          <p:cNvSpPr txBox="1"/>
          <p:nvPr/>
        </p:nvSpPr>
        <p:spPr>
          <a:xfrm>
            <a:off x="550000" y="330000"/>
            <a:ext cx="10800000" cy="3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100" b="1">
                <a:solidFill>
                  <a:srgbClr val="159A9C"/>
                </a:solidFill>
                <a:latin typeface="Aptos"/>
              </a:rPr>
              <a:t>07 · CONCLUSION</a:t>
            </a:r>
            <a:endParaRPr lang="fr-FR" sz="1100"/>
          </a:p>
        </p:txBody>
      </p:sp>
      <p:sp>
        <p:nvSpPr>
          <p:cNvPr id="999" name="Text 999"/>
          <p:cNvSpPr txBox="1"/>
          <p:nvPr/>
        </p:nvSpPr>
        <p:spPr>
          <a:xfrm>
            <a:off x="550000" y="700000"/>
            <a:ext cx="11100000" cy="7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800" b="1">
                <a:solidFill>
                  <a:srgbClr val="173A52"/>
                </a:solidFill>
                <a:latin typeface="Aptos"/>
              </a:rPr>
              <a:t>Conclusion pré-terrain</a:t>
            </a:r>
            <a:endParaRPr lang="fr-FR" sz="2800"/>
          </a:p>
        </p:txBody>
      </p:sp>
      <p:sp>
        <p:nvSpPr>
          <p:cNvPr id="999" name="Text 999"/>
          <p:cNvSpPr txBox="1"/>
          <p:nvPr/>
        </p:nvSpPr>
        <p:spPr>
          <a:xfrm>
            <a:off x="550000" y="1270000"/>
            <a:ext cx="11100000" cy="43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500" b="0">
                <a:solidFill>
                  <a:srgbClr val="60717D"/>
                </a:solidFill>
                <a:latin typeface="Aptos"/>
              </a:rPr>
              <a:t>La réponse finale à la question de recherche viendra après les matériaux.</a:t>
            </a:r>
            <a:endParaRPr lang="fr-FR" sz="1500"/>
          </a:p>
        </p:txBody>
      </p:sp>
      <p:sp>
        <p:nvSpPr>
          <p:cNvPr id="3" name="Text 3"/>
          <p:cNvSpPr txBox="1"/>
          <p:nvPr/>
        </p:nvSpPr>
        <p:spPr>
          <a:xfrm>
            <a:off x="650000" y="1600000"/>
            <a:ext cx="3300000" cy="4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200" b="1">
                <a:solidFill>
                  <a:srgbClr val="173A52"/>
                </a:solidFill>
                <a:latin typeface="Aptos"/>
              </a:rPr>
              <a:t>Ce qui est prêt</a:t>
            </a:r>
            <a:endParaRPr lang="fr-FR" sz="2200"/>
          </a:p>
        </p:txBody>
      </p:sp>
      <p:sp>
        <p:nvSpPr>
          <p:cNvPr id="4" name="Text 4"/>
          <p:cNvSpPr txBox="1"/>
          <p:nvPr/>
        </p:nvSpPr>
        <p:spPr>
          <a:xfrm>
            <a:off x="650000" y="2200000"/>
            <a:ext cx="4000000" cy="22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900" b="0">
                <a:solidFill>
                  <a:srgbClr val="233746"/>
                </a:solidFill>
                <a:latin typeface="Aptos"/>
              </a:rPr>
              <a:t>Question · périmètre</a:t>
            </a:r>
            <a:endParaRPr lang="fr-FR" sz="1900"/>
          </a:p>
          <a:p>
            <a:r>
              <a:rPr lang="fr-FR" sz="1900" b="0">
                <a:solidFill>
                  <a:srgbClr val="233746"/>
                </a:solidFill>
                <a:latin typeface="Aptos"/>
              </a:rPr>
              <a:t>Concept et frontières</a:t>
            </a:r>
            <a:endParaRPr lang="fr-FR" sz="1900"/>
          </a:p>
          <a:p>
            <a:r>
              <a:rPr lang="fr-FR" sz="1900" b="0">
                <a:solidFill>
                  <a:srgbClr val="233746"/>
                </a:solidFill>
                <a:latin typeface="Aptos"/>
              </a:rPr>
              <a:t>Modèle exploratoire</a:t>
            </a:r>
            <a:endParaRPr lang="fr-FR" sz="1900"/>
          </a:p>
          <a:p>
            <a:r>
              <a:rPr lang="fr-FR" sz="1900" b="0">
                <a:solidFill>
                  <a:srgbClr val="233746"/>
                </a:solidFill>
                <a:latin typeface="Aptos"/>
              </a:rPr>
              <a:t>Protocole prévu</a:t>
            </a:r>
            <a:endParaRPr lang="fr-FR" sz="1900"/>
          </a:p>
          <a:p>
            <a:r>
              <a:rPr lang="fr-FR" sz="1900" b="0">
                <a:solidFill>
                  <a:srgbClr val="233746"/>
                </a:solidFill>
                <a:latin typeface="Aptos"/>
              </a:rPr>
              <a:t>Chaîne de preuves</a:t>
            </a:r>
            <a:endParaRPr lang="fr-FR" sz="1900"/>
          </a:p>
        </p:txBody>
      </p:sp>
      <p:sp>
        <p:nvSpPr>
          <p:cNvPr id="5" name="Text 5"/>
          <p:cNvSpPr txBox="1"/>
          <p:nvPr/>
        </p:nvSpPr>
        <p:spPr>
          <a:xfrm>
            <a:off x="6500000" y="1600000"/>
            <a:ext cx="4200000" cy="4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2200" b="1">
                <a:solidFill>
                  <a:srgbClr val="173A52"/>
                </a:solidFill>
                <a:latin typeface="Aptos"/>
              </a:rPr>
              <a:t>Ce qui reste à établir</a:t>
            </a:r>
            <a:endParaRPr lang="fr-FR" sz="2200"/>
          </a:p>
        </p:txBody>
      </p:sp>
      <p:sp>
        <p:nvSpPr>
          <p:cNvPr id="6" name="Text 6"/>
          <p:cNvSpPr txBox="1"/>
          <p:nvPr/>
        </p:nvSpPr>
        <p:spPr>
          <a:xfrm>
            <a:off x="6500000" y="2200000"/>
            <a:ext cx="4500000" cy="2200000"/>
          </a:xfrm>
          <a:prstGeom prst="rect">
            <a:avLst/>
          </a:prstGeom>
          <a:noFill/>
          <a:noFill/>
        </p:spPr>
        <p:txBody>
          <a:bodyPr wrap="square" lIns="120000" tIns="90000" rIns="120000" bIns="90000" anchor="ctr"/>
          <a:lstStyle/>
          <a:p>
            <a:r>
              <a:rPr lang="fr-FR" sz="1900" b="0">
                <a:solidFill>
                  <a:srgbClr val="233746"/>
                </a:solidFill>
                <a:latin typeface="Aptos"/>
              </a:rPr>
              <a:t>Corpus réel</a:t>
            </a:r>
            <a:endParaRPr lang="fr-FR" sz="1900"/>
          </a:p>
          <a:p>
            <a:r>
              <a:rPr lang="fr-FR" sz="1900" b="0">
                <a:solidFill>
                  <a:srgbClr val="233746"/>
                </a:solidFill>
                <a:latin typeface="Aptos"/>
              </a:rPr>
              <a:t>Résultats et contradictions</a:t>
            </a:r>
            <a:endParaRPr lang="fr-FR" sz="1900"/>
          </a:p>
          <a:p>
            <a:r>
              <a:rPr lang="fr-FR" sz="1900" b="0">
                <a:solidFill>
                  <a:srgbClr val="233746"/>
                </a:solidFill>
                <a:latin typeface="Aptos"/>
              </a:rPr>
              <a:t>Contribution démontrée</a:t>
            </a:r>
            <a:endParaRPr lang="fr-FR" sz="1900"/>
          </a:p>
          <a:p>
            <a:r>
              <a:rPr lang="fr-FR" sz="1900" b="0">
                <a:solidFill>
                  <a:srgbClr val="233746"/>
                </a:solidFill>
                <a:latin typeface="Aptos"/>
              </a:rPr>
              <a:t>Conditions et limites</a:t>
            </a:r>
            <a:endParaRPr lang="fr-FR" sz="1900"/>
          </a:p>
          <a:p>
            <a:r>
              <a:rPr lang="fr-FR" sz="1900" b="0">
                <a:solidFill>
                  <a:srgbClr val="233746"/>
                </a:solidFill>
                <a:latin typeface="Aptos"/>
              </a:rPr>
              <a:t>Recommandations proportionnées</a:t>
            </a:r>
            <a:endParaRPr lang="fr-FR" sz="1900"/>
          </a:p>
        </p:txBody>
      </p:sp>
      <p:sp>
        <p:nvSpPr>
          <p:cNvPr id="7" name="Text 7"/>
          <p:cNvSpPr txBox="1"/>
          <p:nvPr/>
        </p:nvSpPr>
        <p:spPr>
          <a:xfrm>
            <a:off x="2400000" y="5100000"/>
            <a:ext cx="7300000" cy="900000"/>
          </a:xfrm>
          <a:prstGeom prst="roundRect">
            <a:avLst/>
          </a:prstGeom>
          <a:solidFill>
            <a:srgbClr val="173A52"/>
          </a:solidFill>
          <a:noFill/>
        </p:spPr>
        <p:txBody>
          <a:bodyPr wrap="square" lIns="120000" tIns="90000" rIns="120000" bIns="90000" anchor="ctr"/>
          <a:lstStyle/>
          <a:p>
            <a:r>
              <a:rPr lang="fr-FR" sz="2200" b="1">
                <a:solidFill>
                  <a:srgbClr val="FFFFFF"/>
                </a:solidFill>
                <a:latin typeface="Aptos"/>
              </a:rPr>
              <a:t>PROCHAIN VERROU : T2</a:t>
            </a:r>
            <a:endParaRPr lang="fr-FR" sz="2200"/>
          </a:p>
          <a:p>
            <a:r>
              <a:rPr lang="fr-FR" sz="2200" b="1">
                <a:solidFill>
                  <a:srgbClr val="FFFFFF"/>
                </a:solidFill>
                <a:latin typeface="Aptos"/>
              </a:rPr>
              <a:t>Protocole · A1–A5 · pilote · saturation</a:t>
            </a:r>
            <a:endParaRPr lang="fr-FR" sz="2200"/>
          </a:p>
        </p:txBody>
      </p:sp>
      <p:sp>
        <p:nvSpPr>
          <p:cNvPr id="900" name="Footer"/>
          <p:cNvSpPr txBox="1"/>
          <p:nvPr/>
        </p:nvSpPr>
        <p:spPr>
          <a:xfrm>
            <a:off x="550000" y="6450000"/>
            <a:ext cx="11100000" cy="2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r"/>
            <a:r>
              <a:rPr lang="fr-FR" sz="900">
                <a:solidFill>
                  <a:srgbClr val="7A8B95"/>
                </a:solidFill>
                <a:latin typeface="Aptos"/>
              </a:rPr>
              <a:t>12 / 12 · SUPPORT PRÉ-TERRAIN · AUCUN RÉSULTAT EMPIRIQUE</a:t>
            </a:r>
            <a:endParaRPr lang="fr-FR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ena">
  <a:themeElements>
    <a:clrScheme name="Arena">
      <a:dk1>
        <a:srgbClr val="000000"/>
      </a:dk1>
      <a:lt1>
        <a:srgbClr val="FFFFFF"/>
      </a:lt1>
      <a:dk2>
        <a:srgbClr val="173A52"/>
      </a:dk2>
      <a:lt2>
        <a:srgbClr val="F4F7F8"/>
      </a:lt2>
      <a:accent1>
        <a:srgbClr val="159A9C"/>
      </a:accent1>
      <a:accent2>
        <a:srgbClr val="C08B2C"/>
      </a:accent2>
      <a:accent3>
        <a:srgbClr val="214E68"/>
      </a:accent3>
      <a:accent4>
        <a:srgbClr val="DDF2F1"/>
      </a:accent4>
      <a:accent5>
        <a:srgbClr val="F7EEDB"/>
      </a:accent5>
      <a:accent6>
        <a:srgbClr val="AA5B4D"/>
      </a:accent6>
      <a:hlink>
        <a:srgbClr val="0000FF"/>
      </a:hlink>
      <a:folHlink>
        <a:srgbClr val="800080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Arena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Arena</Application>
  <PresentationFormat>On-screen Show (16:9)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>
  <dc:title>Proposition de support de soutenance pré-terrain</dc:title>
  <dc:subject>Gouvernance augmentée des EPES gabonais</dc:subject>
  <dc:creator>Serge Patrick MINANG</dc:creator>
  <cp:keywords>proposition IA, pré-terrain, méthodologie</cp:keywords>
</cp:coreProperties>
</file>